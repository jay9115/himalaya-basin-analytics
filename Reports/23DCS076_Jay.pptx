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9" r:id="rId3"/>
    <p:sldId id="276" r:id="rId4"/>
    <p:sldId id="258" r:id="rId5"/>
    <p:sldId id="277" r:id="rId6"/>
    <p:sldId id="283" r:id="rId7"/>
    <p:sldId id="273" r:id="rId8"/>
    <p:sldId id="279" r:id="rId9"/>
    <p:sldId id="280" r:id="rId10"/>
    <p:sldId id="282" r:id="rId11"/>
    <p:sldId id="285" r:id="rId12"/>
    <p:sldId id="269" r:id="rId13"/>
    <p:sldId id="272" r:id="rId14"/>
  </p:sldIdLst>
  <p:sldSz cx="18288000" cy="10287000"/>
  <p:notesSz cx="6858000" cy="9144000"/>
  <p:embeddedFontLst>
    <p:embeddedFont>
      <p:font typeface="TT Rounds Condensed" panose="020B0604020202020204" charset="0"/>
      <p:regular r:id="rId16"/>
    </p:embeddedFont>
    <p:embeddedFont>
      <p:font typeface="TT Rounds Condensed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77" autoAdjust="0"/>
    <p:restoredTop sz="95726" autoAdjust="0"/>
  </p:normalViewPr>
  <p:slideViewPr>
    <p:cSldViewPr>
      <p:cViewPr>
        <p:scale>
          <a:sx n="66" d="100"/>
          <a:sy n="66" d="100"/>
        </p:scale>
        <p:origin x="509"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4T17:07:45.574"/>
    </inkml:context>
    <inkml:brush xml:id="br0">
      <inkml:brushProperty name="width" value="0.35" units="cm"/>
      <inkml:brushProperty name="height" value="0.35" units="cm"/>
      <inkml:brushProperty name="color" value="#FFFFFF"/>
    </inkml:brush>
  </inkml:definitions>
  <inkml:trace contextRef="#ctx0" brushRef="#br0">1790 43 24575,'-1631'0'0,"1627"0"0,0 1 0,-1-1 0,1 1 0,0 0 0,-1 0 0,1 0 0,0 1 0,0-1 0,0 1 0,0 0 0,1 0 0,-6 4 0,-2 3 0,0 0 0,-14 16 0,-14 13 0,26-24 0,12-14 0,1 0 0,0 1 0,0-1 0,0 0 0,0 0 0,0 1 0,0-1 0,0 0 0,0 1 0,0-1 0,0 0 0,0 0 0,0 1 0,0-1 0,0 0 0,0 0 0,0 1 0,0-1 0,0 0 0,0 1 0,0-1 0,0 0 0,0 0 0,1 1 0,-1-1 0,0 0 0,0 0 0,0 0 0,0 1 0,1-1 0,-1 0 0,0 0 0,3 2 0,0-1 0,0 0 0,0-1 0,0 1 0,0 0 0,0-1 0,0 0 0,0 1 0,3-2 0,406 2 0,-177-4 0,344-22 0,-543 21 0,452-53 0,-463 54 0,-1-2 0,0-1 0,0-1 0,30-13 0,-34 11 0,0 2 0,0 0 0,1 1 0,0 1 0,1 1 0,26-1 0,566 6-1365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4T17:17:44.351"/>
    </inkml:context>
    <inkml:brush xml:id="br0">
      <inkml:brushProperty name="width" value="0.35" units="cm"/>
      <inkml:brushProperty name="height" value="0.35" units="cm"/>
      <inkml:brushProperty name="color" value="#FFFFFF"/>
    </inkml:brush>
  </inkml:definitions>
  <inkml:trace contextRef="#ctx0" brushRef="#br0">0 19 24486,'2456'297'0,"-2935"-614"0,958 634 0,-1020-124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4T17:17:47.684"/>
    </inkml:context>
    <inkml:brush xml:id="br0">
      <inkml:brushProperty name="width" value="0.35" units="cm"/>
      <inkml:brushProperty name="height" value="0.35" units="cm"/>
      <inkml:brushProperty name="color" value="#FFFFFF"/>
    </inkml:brush>
  </inkml:definitions>
  <inkml:trace contextRef="#ctx0" brushRef="#br0">401 25 24575,'-7'0'0,"-9"0"0,-10 0 0,-7 0 0,-5 0 0,-4 0 0,-2 0 0,0 0 0,0 0 0,0 0 0,8-7 0,10-10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F54CA-F4D6-4DBB-864D-1F76FBEB55BF}" type="datetimeFigureOut">
              <a:rPr lang="en-IN" smtClean="0"/>
              <a:t>13-07-2026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1ADB0D-DECB-4F79-A2C0-A50C13F33AF5}" type="slidenum">
              <a:rPr lang="en-IN" smtClean="0"/>
              <a:t>‹#›</a:t>
            </a:fld>
            <a:endParaRPr lang="en-IN"/>
          </a:p>
        </p:txBody>
      </p:sp>
    </p:spTree>
    <p:extLst>
      <p:ext uri="{BB962C8B-B14F-4D97-AF65-F5344CB8AC3E}">
        <p14:creationId xmlns:p14="http://schemas.microsoft.com/office/powerpoint/2010/main" val="2096317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1ADB0D-DECB-4F79-A2C0-A50C13F33AF5}" type="slidenum">
              <a:rPr lang="en-IN" smtClean="0"/>
              <a:t>7</a:t>
            </a:fld>
            <a:endParaRPr lang="en-IN"/>
          </a:p>
        </p:txBody>
      </p:sp>
    </p:spTree>
    <p:extLst>
      <p:ext uri="{BB962C8B-B14F-4D97-AF65-F5344CB8AC3E}">
        <p14:creationId xmlns:p14="http://schemas.microsoft.com/office/powerpoint/2010/main" val="2396376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p:cNvGrpSpPr/>
          <p:nvPr/>
        </p:nvGrpSpPr>
        <p:grpSpPr>
          <a:xfrm>
            <a:off x="0" y="9501474"/>
            <a:ext cx="18288002" cy="98997"/>
            <a:chOff x="0" y="0"/>
            <a:chExt cx="24384002" cy="131996"/>
          </a:xfrm>
        </p:grpSpPr>
        <p:sp>
          <p:nvSpPr>
            <p:cNvPr id="5" name="Freeform 5"/>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p:cNvSpPr/>
          <p:nvPr/>
        </p:nvSpPr>
        <p:spPr>
          <a:xfrm rot="2188">
            <a:off x="1785534" y="2606767"/>
            <a:ext cx="14959968"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2" y="9601200"/>
            <a:ext cx="18283238" cy="685800"/>
            <a:chOff x="0" y="0"/>
            <a:chExt cx="24377650"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BD582C"/>
            </a:solidFill>
          </p:spPr>
        </p:sp>
      </p:grpSp>
      <p:grpSp>
        <p:nvGrpSpPr>
          <p:cNvPr id="9" name="Group 9"/>
          <p:cNvGrpSpPr/>
          <p:nvPr/>
        </p:nvGrpSpPr>
        <p:grpSpPr>
          <a:xfrm>
            <a:off x="22" y="9501474"/>
            <a:ext cx="18283238" cy="96012"/>
            <a:chOff x="0" y="0"/>
            <a:chExt cx="24377650"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E48312"/>
            </a:solidFill>
          </p:spPr>
        </p:sp>
      </p:grpSp>
      <p:sp>
        <p:nvSpPr>
          <p:cNvPr id="11" name="AutoShape 11"/>
          <p:cNvSpPr/>
          <p:nvPr/>
        </p:nvSpPr>
        <p:spPr>
          <a:xfrm rot="2209">
            <a:off x="1806723" y="6515100"/>
            <a:ext cx="14822808" cy="0"/>
          </a:xfrm>
          <a:prstGeom prst="line">
            <a:avLst/>
          </a:prstGeom>
          <a:ln w="9525" cap="rnd">
            <a:solidFill>
              <a:srgbClr val="000000"/>
            </a:solidFill>
            <a:prstDash val="solid"/>
            <a:headEnd type="none" w="sm" len="sm"/>
            <a:tailEnd type="none" w="sm" len="sm"/>
          </a:ln>
        </p:spPr>
      </p:sp>
      <p:grpSp>
        <p:nvGrpSpPr>
          <p:cNvPr id="12" name="Group 12"/>
          <p:cNvGrpSpPr/>
          <p:nvPr/>
        </p:nvGrpSpPr>
        <p:grpSpPr>
          <a:xfrm>
            <a:off x="1645920" y="1103796"/>
            <a:ext cx="15260943" cy="5551992"/>
            <a:chOff x="-262532" y="1471728"/>
            <a:chExt cx="20347924" cy="7402655"/>
          </a:xfrm>
        </p:grpSpPr>
        <p:sp>
          <p:nvSpPr>
            <p:cNvPr id="13" name="Freeform 13"/>
            <p:cNvSpPr/>
            <p:nvPr/>
          </p:nvSpPr>
          <p:spPr>
            <a:xfrm>
              <a:off x="-262532" y="1723071"/>
              <a:ext cx="20116800" cy="7151312"/>
            </a:xfrm>
            <a:custGeom>
              <a:avLst/>
              <a:gdLst/>
              <a:ahLst/>
              <a:cxnLst/>
              <a:rect l="l" t="t" r="r" b="b"/>
              <a:pathLst>
                <a:path w="20116800" h="7151312">
                  <a:moveTo>
                    <a:pt x="0" y="0"/>
                  </a:moveTo>
                  <a:lnTo>
                    <a:pt x="20116800" y="0"/>
                  </a:lnTo>
                  <a:lnTo>
                    <a:pt x="20116800" y="7151312"/>
                  </a:lnTo>
                  <a:lnTo>
                    <a:pt x="0" y="7151312"/>
                  </a:lnTo>
                  <a:close/>
                </a:path>
              </a:pathLst>
            </a:custGeom>
            <a:solidFill>
              <a:srgbClr val="000000">
                <a:alpha val="0"/>
              </a:srgbClr>
            </a:solidFill>
          </p:spPr>
          <p:txBody>
            <a:bodyPr/>
            <a:lstStyle/>
            <a:p>
              <a:endParaRPr lang="en-IN" dirty="0"/>
            </a:p>
          </p:txBody>
        </p:sp>
        <p:sp>
          <p:nvSpPr>
            <p:cNvPr id="14" name="TextBox 14"/>
            <p:cNvSpPr txBox="1"/>
            <p:nvPr/>
          </p:nvSpPr>
          <p:spPr>
            <a:xfrm>
              <a:off x="-31408" y="1471728"/>
              <a:ext cx="20116800" cy="7027487"/>
            </a:xfrm>
            <a:prstGeom prst="rect">
              <a:avLst/>
            </a:prstGeom>
          </p:spPr>
          <p:txBody>
            <a:bodyPr lIns="0" tIns="0" rIns="0" bIns="0" rtlCol="0" anchor="b"/>
            <a:lstStyle/>
            <a:p>
              <a:pPr algn="ctr">
                <a:lnSpc>
                  <a:spcPts val="7344"/>
                </a:lnSpc>
              </a:pPr>
              <a:r>
                <a:rPr lang="en-IN" sz="5400" dirty="0">
                  <a:latin typeface="TT Rounds Condensed" panose="020B0604020202020204" charset="0"/>
                </a:rPr>
                <a:t>WebApp for Visualization and Analysis of Himalayan Hydro-</a:t>
              </a:r>
              <a:r>
                <a:rPr lang="en-IN" sz="5400" dirty="0" err="1">
                  <a:latin typeface="TT Rounds Condensed" panose="020B0604020202020204" charset="0"/>
                </a:rPr>
                <a:t>Cryospheric</a:t>
              </a:r>
              <a:r>
                <a:rPr lang="en-IN" sz="5400" dirty="0">
                  <a:latin typeface="TT Rounds Condensed" panose="020B0604020202020204" charset="0"/>
                </a:rPr>
                <a:t> Datasets</a:t>
              </a:r>
            </a:p>
            <a:p>
              <a:pPr algn="ctr">
                <a:lnSpc>
                  <a:spcPts val="7344"/>
                </a:lnSpc>
              </a:pPr>
              <a:endParaRPr lang="en-IN" sz="5400" dirty="0">
                <a:latin typeface="TT Rounds Condensed" panose="020B0604020202020204" charset="0"/>
              </a:endParaRPr>
            </a:p>
            <a:p>
              <a:pPr algn="ctr">
                <a:lnSpc>
                  <a:spcPts val="7344"/>
                </a:lnSpc>
              </a:pPr>
              <a:r>
                <a:rPr lang="en-US" sz="2400" b="1" spc="-107" dirty="0">
                  <a:solidFill>
                    <a:srgbClr val="262626"/>
                  </a:solidFill>
                  <a:latin typeface="TT Rounds Condensed" panose="020B0604020202020204" charset="0"/>
                  <a:ea typeface="TT Rounds Condensed Bold"/>
                  <a:cs typeface="TT Rounds Condensed Bold"/>
                  <a:sym typeface="TT Rounds Condensed Bold"/>
                </a:rPr>
                <a:t>CSE402: Summer Internship - II</a:t>
              </a:r>
            </a:p>
          </p:txBody>
        </p:sp>
      </p:grpSp>
      <p:grpSp>
        <p:nvGrpSpPr>
          <p:cNvPr id="15" name="Group 15"/>
          <p:cNvGrpSpPr/>
          <p:nvPr/>
        </p:nvGrpSpPr>
        <p:grpSpPr>
          <a:xfrm>
            <a:off x="14850687" y="9689678"/>
            <a:ext cx="1968037" cy="547687"/>
            <a:chOff x="0" y="0"/>
            <a:chExt cx="2624050" cy="730250"/>
          </a:xfrm>
        </p:grpSpPr>
        <p:sp>
          <p:nvSpPr>
            <p:cNvPr id="16" name="Freeform 16"/>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7" name="TextBox 17"/>
            <p:cNvSpPr txBox="1"/>
            <p:nvPr/>
          </p:nvSpPr>
          <p:spPr>
            <a:xfrm>
              <a:off x="0" y="-9525"/>
              <a:ext cx="2624050" cy="739775"/>
            </a:xfrm>
            <a:prstGeom prst="rect">
              <a:avLst/>
            </a:prstGeom>
          </p:spPr>
          <p:txBody>
            <a:bodyPr lIns="0" tIns="0" rIns="0" bIns="0" rtlCol="0" anchor="ctr"/>
            <a:lstStyle/>
            <a:p>
              <a:pPr algn="r">
                <a:lnSpc>
                  <a:spcPts val="1889"/>
                </a:lnSpc>
              </a:pPr>
              <a:r>
                <a:rPr lang="en-US" sz="1575" spc="14">
                  <a:solidFill>
                    <a:srgbClr val="FFFFFF"/>
                  </a:solidFill>
                  <a:latin typeface="TT Rounds Condensed"/>
                  <a:ea typeface="TT Rounds Condensed"/>
                  <a:cs typeface="TT Rounds Condensed"/>
                  <a:sym typeface="TT Rounds Condensed"/>
                </a:rPr>
                <a:t>1</a:t>
              </a:r>
            </a:p>
          </p:txBody>
        </p:sp>
      </p:grpSp>
      <p:grpSp>
        <p:nvGrpSpPr>
          <p:cNvPr id="18" name="Group 18"/>
          <p:cNvGrpSpPr/>
          <p:nvPr/>
        </p:nvGrpSpPr>
        <p:grpSpPr>
          <a:xfrm>
            <a:off x="10488521" y="7071465"/>
            <a:ext cx="7639200" cy="4525239"/>
            <a:chOff x="-155509" y="0"/>
            <a:chExt cx="10185601" cy="6033651"/>
          </a:xfrm>
        </p:grpSpPr>
        <p:sp>
          <p:nvSpPr>
            <p:cNvPr id="19" name="Freeform 19"/>
            <p:cNvSpPr/>
            <p:nvPr/>
          </p:nvSpPr>
          <p:spPr>
            <a:xfrm>
              <a:off x="-155509" y="0"/>
              <a:ext cx="9978214" cy="4832092"/>
            </a:xfrm>
            <a:custGeom>
              <a:avLst/>
              <a:gdLst/>
              <a:ahLst/>
              <a:cxnLst/>
              <a:rect l="l" t="t" r="r" b="b"/>
              <a:pathLst>
                <a:path w="9978214" h="4832092">
                  <a:moveTo>
                    <a:pt x="0" y="0"/>
                  </a:moveTo>
                  <a:lnTo>
                    <a:pt x="9978214" y="0"/>
                  </a:lnTo>
                  <a:lnTo>
                    <a:pt x="9978214" y="4832092"/>
                  </a:lnTo>
                  <a:lnTo>
                    <a:pt x="0" y="4832092"/>
                  </a:lnTo>
                  <a:close/>
                </a:path>
              </a:pathLst>
            </a:custGeom>
            <a:solidFill>
              <a:srgbClr val="000000">
                <a:alpha val="0"/>
              </a:srgbClr>
            </a:solidFill>
          </p:spPr>
          <p:txBody>
            <a:bodyPr/>
            <a:lstStyle/>
            <a:p>
              <a:endParaRPr lang="en-IN" dirty="0"/>
            </a:p>
          </p:txBody>
        </p:sp>
        <p:sp>
          <p:nvSpPr>
            <p:cNvPr id="20" name="TextBox 20"/>
            <p:cNvSpPr txBox="1"/>
            <p:nvPr/>
          </p:nvSpPr>
          <p:spPr>
            <a:xfrm>
              <a:off x="51878" y="1192034"/>
              <a:ext cx="9978214" cy="4841617"/>
            </a:xfrm>
            <a:prstGeom prst="rect">
              <a:avLst/>
            </a:prstGeom>
          </p:spPr>
          <p:txBody>
            <a:bodyPr lIns="0" tIns="0" rIns="0" bIns="0" rtlCol="0" anchor="t"/>
            <a:lstStyle/>
            <a:p>
              <a:pPr algn="l">
                <a:lnSpc>
                  <a:spcPts val="3240"/>
                </a:lnSpc>
              </a:pPr>
              <a:r>
                <a:rPr lang="en-US" sz="2700" spc="25" dirty="0">
                  <a:solidFill>
                    <a:srgbClr val="000000"/>
                  </a:solidFill>
                  <a:latin typeface="TT Rounds Condensed"/>
                  <a:ea typeface="TT Rounds Condensed"/>
                  <a:cs typeface="TT Rounds Condensed"/>
                  <a:sym typeface="TT Rounds Condensed"/>
                </a:rPr>
                <a:t>Presented by: Jay Patel(23DCS076)</a:t>
              </a:r>
            </a:p>
            <a:p>
              <a:pPr algn="l">
                <a:lnSpc>
                  <a:spcPts val="3240"/>
                </a:lnSpc>
              </a:pPr>
              <a:r>
                <a:rPr lang="en-US" sz="2700" spc="25" dirty="0">
                  <a:solidFill>
                    <a:srgbClr val="000000"/>
                  </a:solidFill>
                  <a:latin typeface="TT Rounds Condensed"/>
                  <a:ea typeface="TT Rounds Condensed"/>
                  <a:cs typeface="TT Rounds Condensed"/>
                  <a:sym typeface="TT Rounds Condensed"/>
                </a:rPr>
                <a:t>  		      </a:t>
              </a:r>
            </a:p>
            <a:p>
              <a:pPr algn="l">
                <a:lnSpc>
                  <a:spcPts val="3240"/>
                </a:lnSpc>
              </a:pPr>
              <a:endParaRPr lang="en-US" sz="2700" spc="25" dirty="0">
                <a:solidFill>
                  <a:srgbClr val="000000"/>
                </a:solidFill>
                <a:latin typeface="TT Rounds Condensed"/>
                <a:ea typeface="TT Rounds Condensed"/>
                <a:cs typeface="TT Rounds Condensed"/>
                <a:sym typeface="TT Rounds Condensed"/>
              </a:endParaRPr>
            </a:p>
            <a:p>
              <a:pPr algn="l">
                <a:lnSpc>
                  <a:spcPts val="3240"/>
                </a:lnSpc>
              </a:pPr>
              <a:endParaRPr lang="en-US" sz="2700" spc="25" dirty="0">
                <a:solidFill>
                  <a:srgbClr val="000000"/>
                </a:solidFill>
                <a:latin typeface="TT Rounds Condensed"/>
                <a:ea typeface="TT Rounds Condensed"/>
                <a:cs typeface="TT Rounds Condensed"/>
                <a:sym typeface="TT Rounds Condensed"/>
              </a:endParaRPr>
            </a:p>
          </p:txBody>
        </p:sp>
      </p:grpSp>
      <p:sp>
        <p:nvSpPr>
          <p:cNvPr id="23" name="TextBox 23"/>
          <p:cNvSpPr txBox="1"/>
          <p:nvPr/>
        </p:nvSpPr>
        <p:spPr>
          <a:xfrm>
            <a:off x="609600" y="7965491"/>
            <a:ext cx="8458200" cy="1392139"/>
          </a:xfrm>
          <a:prstGeom prst="rect">
            <a:avLst/>
          </a:prstGeom>
        </p:spPr>
        <p:txBody>
          <a:bodyPr lIns="0" tIns="0" rIns="0" bIns="0" rtlCol="0" anchor="t"/>
          <a:lstStyle/>
          <a:p>
            <a:pPr algn="just"/>
            <a:r>
              <a:rPr lang="en-US" sz="2000" spc="25" dirty="0">
                <a:solidFill>
                  <a:srgbClr val="000000"/>
                </a:solidFill>
                <a:latin typeface="TT Rounds Condensed"/>
                <a:ea typeface="TT Rounds Condensed"/>
                <a:cs typeface="TT Rounds Condensed"/>
                <a:sym typeface="TT Rounds Condensed"/>
              </a:rPr>
              <a:t> </a:t>
            </a:r>
            <a:r>
              <a:rPr lang="en-US" sz="2000" spc="25" dirty="0">
                <a:solidFill>
                  <a:srgbClr val="000000"/>
                </a:solidFill>
                <a:latin typeface="TT Rounds Condensed" panose="020B0604020202020204" charset="0"/>
                <a:ea typeface="TT Rounds Condensed"/>
                <a:cs typeface="TT Rounds Condensed"/>
                <a:sym typeface="TT Rounds Condensed"/>
              </a:rPr>
              <a:t>External Guide : </a:t>
            </a:r>
            <a:r>
              <a:rPr lang="en-IN" b="1" dirty="0">
                <a:latin typeface="TT Rounds Condensed" panose="020B0604020202020204" charset="0"/>
              </a:rPr>
              <a:t>Dr. Amit Kumar Dubey  </a:t>
            </a:r>
            <a:r>
              <a:rPr lang="en-IN" dirty="0">
                <a:latin typeface="TT Rounds Condensed" panose="020B0604020202020204" charset="0"/>
              </a:rPr>
              <a:t>Scientist/Engineer 'SF’, ISRO/SAC, Ahmedabad</a:t>
            </a:r>
          </a:p>
          <a:p>
            <a:pPr algn="just"/>
            <a:r>
              <a:rPr lang="en-IN" sz="2000" spc="25" dirty="0">
                <a:solidFill>
                  <a:srgbClr val="000000"/>
                </a:solidFill>
                <a:latin typeface="TT Rounds Condensed" panose="020B0604020202020204" charset="0"/>
                <a:ea typeface="TT Rounds Condensed"/>
                <a:cs typeface="TT Rounds Condensed"/>
                <a:sym typeface="TT Rounds Condensed"/>
              </a:rPr>
              <a:t>Internal Guide :   </a:t>
            </a:r>
            <a:r>
              <a:rPr lang="en-IN" b="1" spc="25" dirty="0">
                <a:solidFill>
                  <a:srgbClr val="000000"/>
                </a:solidFill>
                <a:latin typeface="TT Rounds Condensed" panose="020B0604020202020204" charset="0"/>
                <a:ea typeface="TT Rounds Condensed"/>
                <a:cs typeface="TT Rounds Condensed"/>
                <a:sym typeface="TT Rounds Condensed"/>
              </a:rPr>
              <a:t>Ms. Sachi Joshi</a:t>
            </a:r>
            <a:r>
              <a:rPr lang="en-IN" spc="25" dirty="0">
                <a:solidFill>
                  <a:srgbClr val="000000"/>
                </a:solidFill>
                <a:latin typeface="TT Rounds Condensed" panose="020B0604020202020204" charset="0"/>
                <a:ea typeface="TT Rounds Condensed"/>
                <a:cs typeface="TT Rounds Condensed"/>
                <a:sym typeface="TT Rounds Condensed"/>
              </a:rPr>
              <a:t>, Assistant Professor, DEPSTAR CHARUSAT</a:t>
            </a:r>
            <a:endParaRPr lang="en-US" spc="25" dirty="0">
              <a:solidFill>
                <a:srgbClr val="000000"/>
              </a:solidFill>
              <a:latin typeface="TT Rounds Condensed" panose="020B0604020202020204" charset="0"/>
              <a:ea typeface="TT Rounds Condensed"/>
              <a:cs typeface="TT Rounds Condensed"/>
              <a:sym typeface="TT Rounds Condensed"/>
            </a:endParaRPr>
          </a:p>
          <a:p>
            <a:pPr algn="l">
              <a:lnSpc>
                <a:spcPts val="3240"/>
              </a:lnSpc>
            </a:pPr>
            <a:endParaRPr lang="en-US" sz="2700" spc="25" dirty="0">
              <a:solidFill>
                <a:srgbClr val="000000"/>
              </a:solidFill>
              <a:latin typeface="TT Rounds Condensed"/>
              <a:ea typeface="TT Rounds Condensed"/>
              <a:cs typeface="TT Rounds Condensed"/>
              <a:sym typeface="TT Rounds Condensed"/>
            </a:endParaRPr>
          </a:p>
        </p:txBody>
      </p:sp>
      <p:sp>
        <p:nvSpPr>
          <p:cNvPr id="24" name="Freeform 24"/>
          <p:cNvSpPr/>
          <p:nvPr/>
        </p:nvSpPr>
        <p:spPr>
          <a:xfrm>
            <a:off x="5450340" y="723537"/>
            <a:ext cx="7008360" cy="1341668"/>
          </a:xfrm>
          <a:custGeom>
            <a:avLst/>
            <a:gdLst/>
            <a:ahLst/>
            <a:cxnLst/>
            <a:rect l="l" t="t" r="r" b="b"/>
            <a:pathLst>
              <a:path w="7008360" h="1341668">
                <a:moveTo>
                  <a:pt x="0" y="0"/>
                </a:moveTo>
                <a:lnTo>
                  <a:pt x="7008360" y="0"/>
                </a:lnTo>
                <a:lnTo>
                  <a:pt x="7008360" y="1341667"/>
                </a:lnTo>
                <a:lnTo>
                  <a:pt x="0" y="1341667"/>
                </a:lnTo>
                <a:lnTo>
                  <a:pt x="0" y="0"/>
                </a:lnTo>
                <a:close/>
              </a:path>
            </a:pathLst>
          </a:custGeom>
          <a:blipFill>
            <a:blip r:embed="rId2"/>
            <a:stretch>
              <a:fillRect l="-41" r="-41"/>
            </a:stretch>
          </a:blipFill>
        </p:spPr>
      </p:sp>
      <p:sp>
        <p:nvSpPr>
          <p:cNvPr id="25" name="Freeform 25"/>
          <p:cNvSpPr/>
          <p:nvPr/>
        </p:nvSpPr>
        <p:spPr>
          <a:xfrm>
            <a:off x="867801" y="510736"/>
            <a:ext cx="1556238" cy="1528653"/>
          </a:xfrm>
          <a:custGeom>
            <a:avLst/>
            <a:gdLst/>
            <a:ahLst/>
            <a:cxnLst/>
            <a:rect l="l" t="t" r="r" b="b"/>
            <a:pathLst>
              <a:path w="1556238" h="1528653">
                <a:moveTo>
                  <a:pt x="0" y="0"/>
                </a:moveTo>
                <a:lnTo>
                  <a:pt x="1556238" y="0"/>
                </a:lnTo>
                <a:lnTo>
                  <a:pt x="1556238" y="1528654"/>
                </a:lnTo>
                <a:lnTo>
                  <a:pt x="0" y="1528654"/>
                </a:lnTo>
                <a:lnTo>
                  <a:pt x="0" y="0"/>
                </a:lnTo>
                <a:close/>
              </a:path>
            </a:pathLst>
          </a:custGeom>
          <a:blipFill>
            <a:blip r:embed="rId3"/>
            <a:stretch>
              <a:fillRect t="-84" b="-84"/>
            </a:stretch>
          </a:blipFill>
        </p:spPr>
      </p:sp>
      <p:grpSp>
        <p:nvGrpSpPr>
          <p:cNvPr id="26" name="Group 26"/>
          <p:cNvGrpSpPr/>
          <p:nvPr/>
        </p:nvGrpSpPr>
        <p:grpSpPr>
          <a:xfrm>
            <a:off x="3933949" y="9441023"/>
            <a:ext cx="10568355" cy="877162"/>
            <a:chOff x="0" y="0"/>
            <a:chExt cx="14091140" cy="1169550"/>
          </a:xfrm>
        </p:grpSpPr>
        <p:sp>
          <p:nvSpPr>
            <p:cNvPr id="27" name="Freeform 27"/>
            <p:cNvSpPr/>
            <p:nvPr/>
          </p:nvSpPr>
          <p:spPr>
            <a:xfrm>
              <a:off x="0" y="0"/>
              <a:ext cx="14091140" cy="1169550"/>
            </a:xfrm>
            <a:custGeom>
              <a:avLst/>
              <a:gdLst/>
              <a:ahLst/>
              <a:cxnLst/>
              <a:rect l="l" t="t" r="r" b="b"/>
              <a:pathLst>
                <a:path w="14091140" h="1169550">
                  <a:moveTo>
                    <a:pt x="0" y="0"/>
                  </a:moveTo>
                  <a:lnTo>
                    <a:pt x="14091140" y="0"/>
                  </a:lnTo>
                  <a:lnTo>
                    <a:pt x="14091140" y="1169550"/>
                  </a:lnTo>
                  <a:lnTo>
                    <a:pt x="0" y="1169550"/>
                  </a:lnTo>
                  <a:close/>
                </a:path>
              </a:pathLst>
            </a:custGeom>
            <a:solidFill>
              <a:srgbClr val="000000">
                <a:alpha val="0"/>
              </a:srgbClr>
            </a:solidFill>
          </p:spPr>
        </p:sp>
        <p:sp>
          <p:nvSpPr>
            <p:cNvPr id="28" name="TextBox 28"/>
            <p:cNvSpPr txBox="1"/>
            <p:nvPr/>
          </p:nvSpPr>
          <p:spPr>
            <a:xfrm>
              <a:off x="995824" y="97587"/>
              <a:ext cx="13095316" cy="1071962"/>
            </a:xfrm>
            <a:prstGeom prst="rect">
              <a:avLst/>
            </a:prstGeom>
          </p:spPr>
          <p:txBody>
            <a:bodyPr lIns="0" tIns="0" rIns="0" bIns="0" rtlCol="0" anchor="t"/>
            <a:lstStyle/>
            <a:p>
              <a:pPr algn="ctr">
                <a:lnSpc>
                  <a:spcPts val="2879"/>
                </a:lnSpc>
              </a:pPr>
              <a:r>
                <a:rPr lang="en-US" sz="2300" b="1" spc="22" dirty="0">
                  <a:solidFill>
                    <a:srgbClr val="FFFFFF"/>
                  </a:solidFill>
                  <a:latin typeface="TT Rounds Condensed Bold"/>
                  <a:ea typeface="TT Rounds Condensed Bold"/>
                  <a:cs typeface="TT Rounds Condensed Bold"/>
                  <a:sym typeface="TT Rounds Condensed Bold"/>
                </a:rPr>
                <a:t>Department of Computer Science &amp; Engineering, </a:t>
              </a:r>
            </a:p>
            <a:p>
              <a:pPr algn="ctr">
                <a:lnSpc>
                  <a:spcPts val="2879"/>
                </a:lnSpc>
              </a:pPr>
              <a:r>
                <a:rPr lang="en-US" sz="2300" b="1" spc="22" dirty="0">
                  <a:solidFill>
                    <a:srgbClr val="FFFFFF"/>
                  </a:solidFill>
                  <a:latin typeface="TT Rounds Condensed Bold"/>
                  <a:ea typeface="TT Rounds Condensed Bold"/>
                  <a:cs typeface="TT Rounds Condensed Bold"/>
                  <a:sym typeface="TT Rounds Condensed Bold"/>
                </a:rPr>
                <a:t>Devang Patel Institute of Advance Technology and Research (DEPSTAR)</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p:cNvGrpSpPr/>
          <p:nvPr/>
        </p:nvGrpSpPr>
        <p:grpSpPr>
          <a:xfrm>
            <a:off x="0" y="9501474"/>
            <a:ext cx="18288002" cy="98997"/>
            <a:chOff x="0" y="0"/>
            <a:chExt cx="24384002" cy="131996"/>
          </a:xfrm>
        </p:grpSpPr>
        <p:sp>
          <p:nvSpPr>
            <p:cNvPr id="5" name="Freeform 5"/>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p:cNvSpPr/>
          <p:nvPr/>
        </p:nvSpPr>
        <p:spPr>
          <a:xfrm rot="2188">
            <a:off x="1785533" y="1989256"/>
            <a:ext cx="14959968"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1813243" y="288492"/>
            <a:ext cx="15087600" cy="3414782"/>
            <a:chOff x="149662" y="-338542"/>
            <a:chExt cx="20116800" cy="4553040"/>
          </a:xfrm>
        </p:grpSpPr>
        <p:sp>
          <p:nvSpPr>
            <p:cNvPr id="8" name="Freeform 8"/>
            <p:cNvSpPr/>
            <p:nvPr/>
          </p:nvSpPr>
          <p:spPr>
            <a:xfrm>
              <a:off x="149662" y="1921410"/>
              <a:ext cx="20116800" cy="2293088"/>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p:cNvSpPr txBox="1"/>
            <p:nvPr/>
          </p:nvSpPr>
          <p:spPr>
            <a:xfrm>
              <a:off x="149662" y="-338542"/>
              <a:ext cx="20116800" cy="2169261"/>
            </a:xfrm>
            <a:prstGeom prst="rect">
              <a:avLst/>
            </a:prstGeom>
          </p:spPr>
          <p:txBody>
            <a:bodyPr lIns="0" tIns="0" rIns="0" bIns="0" rtlCol="0" anchor="b"/>
            <a:lstStyle/>
            <a:p>
              <a:pPr algn="l">
                <a:lnSpc>
                  <a:spcPts val="7344"/>
                </a:lnSpc>
              </a:pPr>
              <a:endParaRPr lang="en-US" sz="6600" spc="-118" dirty="0">
                <a:solidFill>
                  <a:srgbClr val="AB620E"/>
                </a:solidFill>
                <a:latin typeface="TT Rounds Condensed"/>
                <a:ea typeface="TT Rounds Condensed"/>
                <a:cs typeface="TT Rounds Condensed"/>
                <a:sym typeface="TT Rounds Condensed"/>
              </a:endParaRPr>
            </a:p>
            <a:p>
              <a:pPr algn="l">
                <a:lnSpc>
                  <a:spcPts val="7344"/>
                </a:lnSpc>
              </a:pPr>
              <a:r>
                <a:rPr lang="en-US" sz="6600" spc="-118" dirty="0">
                  <a:solidFill>
                    <a:srgbClr val="AB620E"/>
                  </a:solidFill>
                  <a:latin typeface="TT Rounds Condensed"/>
                  <a:ea typeface="TT Rounds Condensed"/>
                  <a:cs typeface="TT Rounds Condensed"/>
                  <a:sym typeface="TT Rounds Condensed"/>
                </a:rPr>
                <a:t>Company Overview</a:t>
              </a:r>
            </a:p>
          </p:txBody>
        </p:sp>
      </p:grpSp>
      <p:grpSp>
        <p:nvGrpSpPr>
          <p:cNvPr id="10" name="Group 10"/>
          <p:cNvGrpSpPr/>
          <p:nvPr/>
        </p:nvGrpSpPr>
        <p:grpSpPr>
          <a:xfrm>
            <a:off x="5204054" y="9689676"/>
            <a:ext cx="7234206" cy="547688"/>
            <a:chOff x="0" y="0"/>
            <a:chExt cx="9645608" cy="730250"/>
          </a:xfrm>
        </p:grpSpPr>
        <p:sp>
          <p:nvSpPr>
            <p:cNvPr id="11" name="Freeform 11"/>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p:cNvGrpSpPr/>
          <p:nvPr/>
        </p:nvGrpSpPr>
        <p:grpSpPr>
          <a:xfrm>
            <a:off x="14850687" y="9689678"/>
            <a:ext cx="1968037" cy="547687"/>
            <a:chOff x="0" y="0"/>
            <a:chExt cx="2624050" cy="730250"/>
          </a:xfrm>
        </p:grpSpPr>
        <p:sp>
          <p:nvSpPr>
            <p:cNvPr id="14" name="Freeform 14"/>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3</a:t>
              </a:r>
            </a:p>
          </p:txBody>
        </p:sp>
      </p:grpSp>
      <p:sp>
        <p:nvSpPr>
          <p:cNvPr id="36" name="Freeform 36"/>
          <p:cNvSpPr/>
          <p:nvPr/>
        </p:nvSpPr>
        <p:spPr>
          <a:xfrm>
            <a:off x="1785535" y="3368403"/>
            <a:ext cx="4391621" cy="2177415"/>
          </a:xfrm>
          <a:custGeom>
            <a:avLst/>
            <a:gdLst/>
            <a:ahLst/>
            <a:cxnLst/>
            <a:rect l="l" t="t" r="r" b="b"/>
            <a:pathLst>
              <a:path w="5855494" h="2903220">
                <a:moveTo>
                  <a:pt x="0" y="0"/>
                </a:moveTo>
                <a:lnTo>
                  <a:pt x="5855494" y="0"/>
                </a:lnTo>
                <a:lnTo>
                  <a:pt x="5855494" y="2903220"/>
                </a:lnTo>
                <a:lnTo>
                  <a:pt x="0" y="2903220"/>
                </a:lnTo>
                <a:close/>
              </a:path>
            </a:pathLst>
          </a:custGeom>
          <a:solidFill>
            <a:srgbClr val="000000">
              <a:alpha val="0"/>
            </a:srgbClr>
          </a:solidFill>
        </p:spPr>
      </p:sp>
      <p:grpSp>
        <p:nvGrpSpPr>
          <p:cNvPr id="46" name="Group 46"/>
          <p:cNvGrpSpPr/>
          <p:nvPr/>
        </p:nvGrpSpPr>
        <p:grpSpPr>
          <a:xfrm>
            <a:off x="1985453" y="2495909"/>
            <a:ext cx="14813990" cy="8133990"/>
            <a:chOff x="0" y="-6045923"/>
            <a:chExt cx="19751989" cy="7497533"/>
          </a:xfrm>
        </p:grpSpPr>
        <p:sp>
          <p:nvSpPr>
            <p:cNvPr id="47" name="Freeform 47"/>
            <p:cNvSpPr/>
            <p:nvPr/>
          </p:nvSpPr>
          <p:spPr>
            <a:xfrm>
              <a:off x="0" y="0"/>
              <a:ext cx="13638609" cy="1451610"/>
            </a:xfrm>
            <a:custGeom>
              <a:avLst/>
              <a:gdLst/>
              <a:ahLst/>
              <a:cxnLst/>
              <a:rect l="l" t="t" r="r" b="b"/>
              <a:pathLst>
                <a:path w="13638609" h="1451610">
                  <a:moveTo>
                    <a:pt x="0" y="0"/>
                  </a:moveTo>
                  <a:lnTo>
                    <a:pt x="13638609" y="0"/>
                  </a:lnTo>
                  <a:lnTo>
                    <a:pt x="13638609" y="1451610"/>
                  </a:lnTo>
                  <a:lnTo>
                    <a:pt x="0" y="1451610"/>
                  </a:lnTo>
                  <a:close/>
                </a:path>
              </a:pathLst>
            </a:custGeom>
            <a:solidFill>
              <a:srgbClr val="000000">
                <a:alpha val="0"/>
              </a:srgbClr>
            </a:solidFill>
          </p:spPr>
          <p:txBody>
            <a:bodyPr/>
            <a:lstStyle/>
            <a:p>
              <a:endParaRPr lang="en-IN" dirty="0"/>
            </a:p>
          </p:txBody>
        </p:sp>
        <p:sp>
          <p:nvSpPr>
            <p:cNvPr id="48" name="TextBox 48"/>
            <p:cNvSpPr txBox="1"/>
            <p:nvPr/>
          </p:nvSpPr>
          <p:spPr>
            <a:xfrm>
              <a:off x="27710" y="-6045923"/>
              <a:ext cx="19724279" cy="5885723"/>
            </a:xfrm>
            <a:prstGeom prst="rect">
              <a:avLst/>
            </a:prstGeom>
          </p:spPr>
          <p:txBody>
            <a:bodyPr lIns="0" tIns="0" rIns="0" bIns="0" rtlCol="0" anchor="t"/>
            <a:lstStyle/>
            <a:p>
              <a:pPr marL="457200" indent="-457200" algn="just">
                <a:buFont typeface="Arial" panose="020B0604020202020204" pitchFamily="34" charset="0"/>
                <a:buChar char="•"/>
              </a:pPr>
              <a:endParaRPr lang="en-US" sz="2800" dirty="0">
                <a:latin typeface="TT Rounds Condensed" panose="020B0604020202020204" charset="0"/>
              </a:endParaRPr>
            </a:p>
          </p:txBody>
        </p:sp>
      </p:grpSp>
      <p:sp>
        <p:nvSpPr>
          <p:cNvPr id="16" name="Rectangle 1">
            <a:extLst>
              <a:ext uri="{FF2B5EF4-FFF2-40B4-BE49-F238E27FC236}">
                <a16:creationId xmlns:a16="http://schemas.microsoft.com/office/drawing/2014/main" id="{C84773AB-C68F-F2D8-FC37-939EF76761C1}"/>
              </a:ext>
            </a:extLst>
          </p:cNvPr>
          <p:cNvSpPr>
            <a:spLocks noChangeArrowheads="1"/>
          </p:cNvSpPr>
          <p:nvPr/>
        </p:nvSpPr>
        <p:spPr bwMode="auto">
          <a:xfrm>
            <a:off x="1785534" y="2523158"/>
            <a:ext cx="11288283"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3200" b="1" dirty="0">
                <a:latin typeface="TT Rounds Condensed" panose="020B0604020202020204" charset="0"/>
              </a:rPr>
              <a:t>Organization</a:t>
            </a:r>
          </a:p>
          <a:p>
            <a:pPr lvl="1"/>
            <a:r>
              <a:rPr lang="en-IN" sz="2800" dirty="0">
                <a:latin typeface="TT Rounds Condensed" panose="020B0604020202020204" charset="0"/>
              </a:rPr>
              <a:t>Indian Space Research Organisation (ISRO) </a:t>
            </a:r>
          </a:p>
          <a:p>
            <a:pPr lvl="1"/>
            <a:r>
              <a:rPr lang="en-IN" sz="2800" dirty="0">
                <a:latin typeface="TT Rounds Condensed" panose="020B0604020202020204" charset="0"/>
              </a:rPr>
              <a:t>Space Applications Centre (SAC), Ahmedabad </a:t>
            </a:r>
          </a:p>
          <a:p>
            <a:pPr lvl="1"/>
            <a:r>
              <a:rPr lang="en-IN" sz="2800" dirty="0">
                <a:latin typeface="TT Rounds Condensed" panose="020B0604020202020204" charset="0"/>
              </a:rPr>
              <a:t>Develops remote sensing and Earth observation applications </a:t>
            </a:r>
          </a:p>
          <a:p>
            <a:pPr lvl="1"/>
            <a:r>
              <a:rPr lang="en-IN" sz="2800" dirty="0">
                <a:latin typeface="TT Rounds Condensed" panose="020B0604020202020204" charset="0"/>
              </a:rPr>
              <a:t>Supports national research in climate, hydrology and geospatial analytics </a:t>
            </a:r>
          </a:p>
          <a:p>
            <a:endParaRPr lang="en-IN" sz="2800" dirty="0">
              <a:latin typeface="TT Rounds Condensed" panose="020B0604020202020204" charset="0"/>
            </a:endParaRPr>
          </a:p>
          <a:p>
            <a:endParaRPr lang="en-IN" sz="2800" dirty="0">
              <a:latin typeface="TT Rounds Condensed" panose="020B0604020202020204" charset="0"/>
            </a:endParaRPr>
          </a:p>
          <a:p>
            <a:r>
              <a:rPr lang="en-IN" sz="3200" b="1" dirty="0">
                <a:latin typeface="TT Rounds Condensed" panose="020B0604020202020204" charset="0"/>
              </a:rPr>
              <a:t>Internship Domain</a:t>
            </a:r>
          </a:p>
          <a:p>
            <a:pPr lvl="1"/>
            <a:r>
              <a:rPr lang="en-IN" sz="2800" dirty="0">
                <a:latin typeface="TT Rounds Condensed" panose="020B0604020202020204" charset="0"/>
              </a:rPr>
              <a:t>Scientific Data Engineering </a:t>
            </a:r>
          </a:p>
          <a:p>
            <a:pPr lvl="1"/>
            <a:r>
              <a:rPr lang="en-IN" sz="2800" dirty="0">
                <a:latin typeface="TT Rounds Condensed" panose="020B0604020202020204" charset="0"/>
              </a:rPr>
              <a:t>Remote Sensing </a:t>
            </a:r>
          </a:p>
          <a:p>
            <a:pPr lvl="1"/>
            <a:r>
              <a:rPr lang="en-IN" sz="2800" dirty="0">
                <a:latin typeface="TT Rounds Condensed" panose="020B0604020202020204" charset="0"/>
              </a:rPr>
              <a:t>Geospatial Web Development </a:t>
            </a:r>
          </a:p>
          <a:p>
            <a:pPr lvl="1"/>
            <a:r>
              <a:rPr lang="en-IN" sz="2800" dirty="0">
                <a:latin typeface="TT Rounds Condensed" panose="020B0604020202020204" charset="0"/>
              </a:rPr>
              <a:t>Hydro-Climatic Data Visualization</a:t>
            </a:r>
          </a:p>
        </p:txBody>
      </p:sp>
      <p:pic>
        <p:nvPicPr>
          <p:cNvPr id="18" name="Picture 17" descr="ISRO">
            <a:extLst>
              <a:ext uri="{FF2B5EF4-FFF2-40B4-BE49-F238E27FC236}">
                <a16:creationId xmlns:a16="http://schemas.microsoft.com/office/drawing/2014/main" id="{91DCD95E-9428-ED34-2268-56B17D37198F}"/>
              </a:ext>
            </a:extLst>
          </p:cNvPr>
          <p:cNvPicPr>
            <a:picLocks noChangeAspect="1"/>
          </p:cNvPicPr>
          <p:nvPr/>
        </p:nvPicPr>
        <p:blipFill>
          <a:blip r:embed="rId2"/>
          <a:stretch>
            <a:fillRect/>
          </a:stretch>
        </p:blipFill>
        <p:spPr>
          <a:xfrm>
            <a:off x="11797507" y="6210301"/>
            <a:ext cx="4474434" cy="22008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9220-6A87-3C85-300D-2EBD671C5BC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105AC6-E1C1-C7C3-9E30-D402B1E2FA13}"/>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02176F0C-F926-3ABE-FD73-91C4DC507963}"/>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7C2FBF8A-96EB-7966-AA61-5CF3DE96805B}"/>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B1C8CA24-13AD-FCCA-8ABC-F4128F52E32B}"/>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19E42D6C-06BE-D244-36BC-D99B568BFA3D}"/>
              </a:ext>
            </a:extLst>
          </p:cNvPr>
          <p:cNvSpPr/>
          <p:nvPr/>
        </p:nvSpPr>
        <p:spPr>
          <a:xfrm rot="2188">
            <a:off x="1785533" y="2512609"/>
            <a:ext cx="14959968" cy="0"/>
          </a:xfrm>
          <a:prstGeom prst="line">
            <a:avLst/>
          </a:prstGeom>
          <a:ln w="9525" cap="rnd">
            <a:solidFill>
              <a:srgbClr val="000000"/>
            </a:solidFill>
            <a:prstDash val="solid"/>
            <a:headEnd type="none" w="sm" len="sm"/>
            <a:tailEnd type="none" w="sm" len="sm"/>
          </a:ln>
        </p:spPr>
      </p:sp>
      <p:grpSp>
        <p:nvGrpSpPr>
          <p:cNvPr id="7" name="Group 7">
            <a:extLst>
              <a:ext uri="{FF2B5EF4-FFF2-40B4-BE49-F238E27FC236}">
                <a16:creationId xmlns:a16="http://schemas.microsoft.com/office/drawing/2014/main" id="{CDF57BFD-33B6-265C-4F2B-FB5272C8178A}"/>
              </a:ext>
            </a:extLst>
          </p:cNvPr>
          <p:cNvGrpSpPr/>
          <p:nvPr/>
        </p:nvGrpSpPr>
        <p:grpSpPr>
          <a:xfrm>
            <a:off x="1785535" y="827687"/>
            <a:ext cx="15087600" cy="2491080"/>
            <a:chOff x="112717" y="-803070"/>
            <a:chExt cx="20116800" cy="3321438"/>
          </a:xfrm>
        </p:grpSpPr>
        <p:sp>
          <p:nvSpPr>
            <p:cNvPr id="8" name="Freeform 8">
              <a:extLst>
                <a:ext uri="{FF2B5EF4-FFF2-40B4-BE49-F238E27FC236}">
                  <a16:creationId xmlns:a16="http://schemas.microsoft.com/office/drawing/2014/main" id="{D93E93EF-AF25-3B00-BB54-F8AA0D54B5B8}"/>
                </a:ext>
              </a:extLst>
            </p:cNvPr>
            <p:cNvSpPr/>
            <p:nvPr/>
          </p:nvSpPr>
          <p:spPr>
            <a:xfrm>
              <a:off x="112717" y="225282"/>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8CB32B3D-1453-F08D-50BD-B53BB2BA2C24}"/>
                </a:ext>
              </a:extLst>
            </p:cNvPr>
            <p:cNvSpPr txBox="1"/>
            <p:nvPr/>
          </p:nvSpPr>
          <p:spPr>
            <a:xfrm>
              <a:off x="112717" y="-803070"/>
              <a:ext cx="20116800" cy="2169261"/>
            </a:xfrm>
            <a:prstGeom prst="rect">
              <a:avLst/>
            </a:prstGeom>
          </p:spPr>
          <p:txBody>
            <a:bodyPr lIns="0" tIns="0" rIns="0" bIns="0" rtlCol="0" anchor="b"/>
            <a:lstStyle/>
            <a:p>
              <a:pPr algn="l">
                <a:lnSpc>
                  <a:spcPts val="7344"/>
                </a:lnSpc>
              </a:pPr>
              <a:r>
                <a:rPr lang="en-US" sz="6600" spc="-118" dirty="0">
                  <a:solidFill>
                    <a:srgbClr val="AB620E"/>
                  </a:solidFill>
                  <a:latin typeface="TT Rounds Condensed"/>
                  <a:ea typeface="TT Rounds Condensed"/>
                  <a:cs typeface="TT Rounds Condensed"/>
                  <a:sym typeface="TT Rounds Condensed"/>
                </a:rPr>
                <a:t>Project introduction</a:t>
              </a:r>
            </a:p>
          </p:txBody>
        </p:sp>
      </p:grpSp>
      <p:grpSp>
        <p:nvGrpSpPr>
          <p:cNvPr id="10" name="Group 10">
            <a:extLst>
              <a:ext uri="{FF2B5EF4-FFF2-40B4-BE49-F238E27FC236}">
                <a16:creationId xmlns:a16="http://schemas.microsoft.com/office/drawing/2014/main" id="{1124B282-C7E4-2D9D-DADF-61B560E87E82}"/>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59179F79-CB99-9E3D-B47E-9A1226D34CD4}"/>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2D9B3408-546B-8A18-7CCA-11CF7C639DF9}"/>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2D923152-168F-F008-3077-4C5E9397431A}"/>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654F011E-4C5E-EDF8-E8C4-4EC0C06FBEC1}"/>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4A1A8FBC-E0C5-7608-7316-1B06EE8A84A1}"/>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a:solidFill>
                    <a:srgbClr val="FFFFFF"/>
                  </a:solidFill>
                  <a:latin typeface="TT Rounds Condensed"/>
                  <a:ea typeface="TT Rounds Condensed"/>
                  <a:cs typeface="TT Rounds Condensed"/>
                  <a:sym typeface="TT Rounds Condensed"/>
                </a:rPr>
                <a:t>4</a:t>
              </a:r>
            </a:p>
          </p:txBody>
        </p:sp>
      </p:grpSp>
      <p:sp>
        <p:nvSpPr>
          <p:cNvPr id="36" name="Freeform 36">
            <a:extLst>
              <a:ext uri="{FF2B5EF4-FFF2-40B4-BE49-F238E27FC236}">
                <a16:creationId xmlns:a16="http://schemas.microsoft.com/office/drawing/2014/main" id="{5B1D056D-9566-E8A6-561A-981E103CD2C4}"/>
              </a:ext>
            </a:extLst>
          </p:cNvPr>
          <p:cNvSpPr/>
          <p:nvPr/>
        </p:nvSpPr>
        <p:spPr>
          <a:xfrm>
            <a:off x="1785535" y="3368403"/>
            <a:ext cx="4391621" cy="2177415"/>
          </a:xfrm>
          <a:custGeom>
            <a:avLst/>
            <a:gdLst/>
            <a:ahLst/>
            <a:cxnLst/>
            <a:rect l="l" t="t" r="r" b="b"/>
            <a:pathLst>
              <a:path w="5855494" h="2903220">
                <a:moveTo>
                  <a:pt x="0" y="0"/>
                </a:moveTo>
                <a:lnTo>
                  <a:pt x="5855494" y="0"/>
                </a:lnTo>
                <a:lnTo>
                  <a:pt x="5855494" y="2903220"/>
                </a:lnTo>
                <a:lnTo>
                  <a:pt x="0" y="2903220"/>
                </a:lnTo>
                <a:close/>
              </a:path>
            </a:pathLst>
          </a:custGeom>
          <a:solidFill>
            <a:srgbClr val="000000">
              <a:alpha val="0"/>
            </a:srgbClr>
          </a:solidFill>
        </p:spPr>
      </p:sp>
      <p:sp>
        <p:nvSpPr>
          <p:cNvPr id="47" name="Freeform 47">
            <a:extLst>
              <a:ext uri="{FF2B5EF4-FFF2-40B4-BE49-F238E27FC236}">
                <a16:creationId xmlns:a16="http://schemas.microsoft.com/office/drawing/2014/main" id="{11297BCC-C6A5-57A5-A196-0A3D399B6154}"/>
              </a:ext>
            </a:extLst>
          </p:cNvPr>
          <p:cNvSpPr/>
          <p:nvPr/>
        </p:nvSpPr>
        <p:spPr>
          <a:xfrm>
            <a:off x="1985453" y="9055064"/>
            <a:ext cx="10228956" cy="1574835"/>
          </a:xfrm>
          <a:custGeom>
            <a:avLst/>
            <a:gdLst/>
            <a:ahLst/>
            <a:cxnLst/>
            <a:rect l="l" t="t" r="r" b="b"/>
            <a:pathLst>
              <a:path w="13638609" h="1451610">
                <a:moveTo>
                  <a:pt x="0" y="0"/>
                </a:moveTo>
                <a:lnTo>
                  <a:pt x="13638609" y="0"/>
                </a:lnTo>
                <a:lnTo>
                  <a:pt x="13638609" y="1451610"/>
                </a:lnTo>
                <a:lnTo>
                  <a:pt x="0" y="1451610"/>
                </a:lnTo>
                <a:close/>
              </a:path>
            </a:pathLst>
          </a:custGeom>
          <a:solidFill>
            <a:srgbClr val="000000">
              <a:alpha val="0"/>
            </a:srgbClr>
          </a:solidFill>
        </p:spPr>
      </p:sp>
      <p:sp>
        <p:nvSpPr>
          <p:cNvPr id="16" name="TextBox 15">
            <a:extLst>
              <a:ext uri="{FF2B5EF4-FFF2-40B4-BE49-F238E27FC236}">
                <a16:creationId xmlns:a16="http://schemas.microsoft.com/office/drawing/2014/main" id="{25E4900F-D98A-1142-659E-8E3CE616E2AD}"/>
              </a:ext>
            </a:extLst>
          </p:cNvPr>
          <p:cNvSpPr txBox="1"/>
          <p:nvPr/>
        </p:nvSpPr>
        <p:spPr>
          <a:xfrm>
            <a:off x="1606317" y="2901044"/>
            <a:ext cx="11151660" cy="6370975"/>
          </a:xfrm>
          <a:prstGeom prst="rect">
            <a:avLst/>
          </a:prstGeom>
          <a:noFill/>
        </p:spPr>
        <p:txBody>
          <a:bodyPr wrap="square" rtlCol="0">
            <a:spAutoFit/>
          </a:bodyPr>
          <a:lstStyle/>
          <a:p>
            <a:pPr algn="just"/>
            <a:r>
              <a:rPr lang="en-IN" sz="3200" b="1" dirty="0">
                <a:latin typeface="TT Rounds Condensed" panose="020B0604020202020204" charset="0"/>
              </a:rPr>
              <a:t>Introduction</a:t>
            </a:r>
          </a:p>
          <a:p>
            <a:pPr lvl="1" algn="just"/>
            <a:r>
              <a:rPr lang="en-IN" sz="2600" dirty="0">
                <a:latin typeface="TT Rounds Condensed" panose="020B0604020202020204" charset="0"/>
              </a:rPr>
              <a:t>The </a:t>
            </a:r>
            <a:r>
              <a:rPr lang="en-IN" sz="2600" b="1" dirty="0">
                <a:latin typeface="TT Rounds Condensed" panose="020B0604020202020204" charset="0"/>
              </a:rPr>
              <a:t>Himalayan region</a:t>
            </a:r>
            <a:r>
              <a:rPr lang="en-IN" sz="2600" dirty="0">
                <a:latin typeface="TT Rounds Condensed" panose="020B0604020202020204" charset="0"/>
              </a:rPr>
              <a:t>, known as the </a:t>
            </a:r>
            <a:r>
              <a:rPr lang="en-IN" sz="2600" b="1" dirty="0">
                <a:latin typeface="TT Rounds Condensed" panose="020B0604020202020204" charset="0"/>
              </a:rPr>
              <a:t>"Water Tower of Asia,"</a:t>
            </a:r>
            <a:r>
              <a:rPr lang="en-IN" sz="2600" dirty="0">
                <a:latin typeface="TT Rounds Condensed" panose="020B0604020202020204" charset="0"/>
              </a:rPr>
              <a:t> is a highly climate-sensitive ecosystem that stores freshwater in glaciers and seasonal snow. Climate change is causing glacier retreat, changing snowfall patterns, and irregular snowmelt, impacting river flow, agriculture, hydropower, ecosystems, and water availability across South Asia.</a:t>
            </a:r>
          </a:p>
          <a:p>
            <a:pPr algn="just"/>
            <a:r>
              <a:rPr lang="en-IN" sz="3200" b="1" dirty="0">
                <a:latin typeface="TT Rounds Condensed" panose="020B0604020202020204" charset="0"/>
              </a:rPr>
              <a:t>Problem Statement</a:t>
            </a:r>
          </a:p>
          <a:p>
            <a:pPr lvl="1" algn="just"/>
            <a:r>
              <a:rPr lang="en-IN" sz="2600" dirty="0">
                <a:latin typeface="TT Rounds Condensed" panose="020B0604020202020204" charset="0"/>
              </a:rPr>
              <a:t>Researchers use datasets such as </a:t>
            </a:r>
            <a:r>
              <a:rPr lang="en-IN" sz="2600" b="1" dirty="0">
                <a:latin typeface="TT Rounds Condensed" panose="020B0604020202020204" charset="0"/>
              </a:rPr>
              <a:t>ERA5-Land, CMIP6, MOD10A1, SPHY,</a:t>
            </a:r>
            <a:r>
              <a:rPr lang="en-IN" sz="2600" dirty="0">
                <a:latin typeface="TT Rounds Condensed" panose="020B0604020202020204" charset="0"/>
              </a:rPr>
              <a:t> and glacier inventories, but these are large, heterogeneous, and difficult to </a:t>
            </a:r>
            <a:r>
              <a:rPr lang="en-IN" sz="2600" dirty="0" err="1">
                <a:latin typeface="TT Rounds Condensed" panose="020B0604020202020204" charset="0"/>
              </a:rPr>
              <a:t>analyze</a:t>
            </a:r>
            <a:r>
              <a:rPr lang="en-IN" sz="2600" dirty="0">
                <a:latin typeface="TT Rounds Condensed" panose="020B0604020202020204" charset="0"/>
              </a:rPr>
              <a:t> together efficiently.</a:t>
            </a:r>
          </a:p>
          <a:p>
            <a:pPr algn="just"/>
            <a:r>
              <a:rPr lang="en-IN" sz="3200" b="1" dirty="0">
                <a:latin typeface="TT Rounds Condensed" panose="020B0604020202020204" charset="0"/>
              </a:rPr>
              <a:t>Proposed Solution</a:t>
            </a:r>
          </a:p>
          <a:p>
            <a:pPr lvl="1" algn="just"/>
            <a:r>
              <a:rPr lang="en-IN" sz="2600" dirty="0">
                <a:latin typeface="TT Rounds Condensed" panose="020B0604020202020204" charset="0"/>
              </a:rPr>
              <a:t>A </a:t>
            </a:r>
            <a:r>
              <a:rPr lang="en-IN" sz="2600" b="1" dirty="0">
                <a:latin typeface="TT Rounds Condensed" panose="020B0604020202020204" charset="0"/>
              </a:rPr>
              <a:t>Web-Based Himalayan Basin Analytics Platform</a:t>
            </a:r>
            <a:r>
              <a:rPr lang="en-IN" sz="2600" dirty="0">
                <a:latin typeface="TT Rounds Condensed" panose="020B0604020202020204" charset="0"/>
              </a:rPr>
              <a:t> was developed to integrate these datasets into a single interactive system, enabling map-based visualization, time-series analysis, region-wise exploration, hotspot detection, and long-term environmental monitoring.</a:t>
            </a:r>
          </a:p>
        </p:txBody>
      </p:sp>
      <p:pic>
        <p:nvPicPr>
          <p:cNvPr id="18" name="Picture 17">
            <a:extLst>
              <a:ext uri="{FF2B5EF4-FFF2-40B4-BE49-F238E27FC236}">
                <a16:creationId xmlns:a16="http://schemas.microsoft.com/office/drawing/2014/main" id="{6ACB0C68-BC30-FA41-BFB7-F2321FDFB345}"/>
              </a:ext>
            </a:extLst>
          </p:cNvPr>
          <p:cNvPicPr>
            <a:picLocks noChangeAspect="1"/>
          </p:cNvPicPr>
          <p:nvPr/>
        </p:nvPicPr>
        <p:blipFill>
          <a:blip r:embed="rId2"/>
          <a:stretch>
            <a:fillRect/>
          </a:stretch>
        </p:blipFill>
        <p:spPr>
          <a:xfrm>
            <a:off x="13487400" y="4157794"/>
            <a:ext cx="4115157" cy="3680779"/>
          </a:xfrm>
          <a:prstGeom prst="rect">
            <a:avLst/>
          </a:prstGeom>
        </p:spPr>
      </p:pic>
    </p:spTree>
    <p:extLst>
      <p:ext uri="{BB962C8B-B14F-4D97-AF65-F5344CB8AC3E}">
        <p14:creationId xmlns:p14="http://schemas.microsoft.com/office/powerpoint/2010/main" val="3451911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p:cNvGrpSpPr/>
          <p:nvPr/>
        </p:nvGrpSpPr>
        <p:grpSpPr>
          <a:xfrm>
            <a:off x="0" y="9501474"/>
            <a:ext cx="18288002" cy="98997"/>
            <a:chOff x="0" y="0"/>
            <a:chExt cx="24384002" cy="131996"/>
          </a:xfrm>
        </p:grpSpPr>
        <p:sp>
          <p:nvSpPr>
            <p:cNvPr id="5" name="Freeform 5"/>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p:cNvSpPr/>
          <p:nvPr/>
        </p:nvSpPr>
        <p:spPr>
          <a:xfrm rot="2188">
            <a:off x="1600199" y="2886172"/>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p:cNvGrpSpPr/>
          <p:nvPr/>
        </p:nvGrpSpPr>
        <p:grpSpPr>
          <a:xfrm>
            <a:off x="1038531" y="1060674"/>
            <a:ext cx="15649269" cy="1719815"/>
            <a:chOff x="0" y="0"/>
            <a:chExt cx="20865692" cy="2293086"/>
          </a:xfrm>
        </p:grpSpPr>
        <p:sp>
          <p:nvSpPr>
            <p:cNvPr id="8" name="Freeform 8"/>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p:cNvSpPr txBox="1"/>
            <p:nvPr/>
          </p:nvSpPr>
          <p:spPr>
            <a:xfrm>
              <a:off x="748892" y="123825"/>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Objective</a:t>
              </a:r>
            </a:p>
          </p:txBody>
        </p:sp>
      </p:grpSp>
      <p:grpSp>
        <p:nvGrpSpPr>
          <p:cNvPr id="10" name="Group 10"/>
          <p:cNvGrpSpPr/>
          <p:nvPr/>
        </p:nvGrpSpPr>
        <p:grpSpPr>
          <a:xfrm>
            <a:off x="5204054" y="9689676"/>
            <a:ext cx="7234206" cy="547688"/>
            <a:chOff x="0" y="0"/>
            <a:chExt cx="9645608" cy="730250"/>
          </a:xfrm>
        </p:grpSpPr>
        <p:sp>
          <p:nvSpPr>
            <p:cNvPr id="11" name="Freeform 11"/>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p:cNvGrpSpPr/>
          <p:nvPr/>
        </p:nvGrpSpPr>
        <p:grpSpPr>
          <a:xfrm>
            <a:off x="14850687" y="9689678"/>
            <a:ext cx="1968037" cy="547687"/>
            <a:chOff x="0" y="0"/>
            <a:chExt cx="2624050" cy="730250"/>
          </a:xfrm>
        </p:grpSpPr>
        <p:sp>
          <p:nvSpPr>
            <p:cNvPr id="14" name="Freeform 14"/>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5</a:t>
              </a:r>
            </a:p>
          </p:txBody>
        </p:sp>
      </p:grpSp>
      <p:sp>
        <p:nvSpPr>
          <p:cNvPr id="22" name="TextBox 21">
            <a:extLst>
              <a:ext uri="{FF2B5EF4-FFF2-40B4-BE49-F238E27FC236}">
                <a16:creationId xmlns:a16="http://schemas.microsoft.com/office/drawing/2014/main" id="{19102E73-E219-E2C8-772B-36892845C9D3}"/>
              </a:ext>
            </a:extLst>
          </p:cNvPr>
          <p:cNvSpPr txBox="1"/>
          <p:nvPr/>
        </p:nvSpPr>
        <p:spPr>
          <a:xfrm>
            <a:off x="1600200" y="3924300"/>
            <a:ext cx="8610600" cy="3539430"/>
          </a:xfrm>
          <a:prstGeom prst="rect">
            <a:avLst/>
          </a:prstGeom>
          <a:noFill/>
        </p:spPr>
        <p:txBody>
          <a:bodyPr wrap="square" rtlCol="0">
            <a:spAutoFit/>
          </a:bodyPr>
          <a:lstStyle/>
          <a:p>
            <a:pPr marL="457200" indent="-457200">
              <a:buFont typeface="Arial" panose="020B0604020202020204" pitchFamily="34" charset="0"/>
              <a:buChar char="•"/>
            </a:pPr>
            <a:r>
              <a:rPr lang="en-IN" sz="2800" dirty="0">
                <a:latin typeface="TT Rounds Condensed" panose="020B0604020202020204" charset="0"/>
              </a:rPr>
              <a:t>Build an interactive scientific visualization platform</a:t>
            </a:r>
          </a:p>
          <a:p>
            <a:pPr marL="457200" indent="-457200">
              <a:buFont typeface="Arial" panose="020B0604020202020204" pitchFamily="34" charset="0"/>
              <a:buChar char="•"/>
            </a:pPr>
            <a:r>
              <a:rPr lang="en-IN" sz="2800" dirty="0">
                <a:latin typeface="TT Rounds Condensed" panose="020B0604020202020204" charset="0"/>
              </a:rPr>
              <a:t>Support ERA5-Land, CMIP6, SPHY, MOD10A1 datasets</a:t>
            </a:r>
          </a:p>
          <a:p>
            <a:pPr marL="457200" indent="-457200">
              <a:buFont typeface="Arial" panose="020B0604020202020204" pitchFamily="34" charset="0"/>
              <a:buChar char="•"/>
            </a:pPr>
            <a:r>
              <a:rPr lang="en-IN" sz="2800" dirty="0">
                <a:latin typeface="TT Rounds Condensed" panose="020B0604020202020204" charset="0"/>
              </a:rPr>
              <a:t>Convert large datasets into optimized Parquet format </a:t>
            </a:r>
          </a:p>
          <a:p>
            <a:pPr marL="457200" indent="-457200">
              <a:buFont typeface="Arial" panose="020B0604020202020204" pitchFamily="34" charset="0"/>
              <a:buChar char="•"/>
            </a:pPr>
            <a:r>
              <a:rPr lang="en-IN" sz="2800" dirty="0">
                <a:latin typeface="TT Rounds Condensed" panose="020B0604020202020204" charset="0"/>
              </a:rPr>
              <a:t>Develop high-performance backend APIs Enable map visualization and time-series analysis </a:t>
            </a:r>
          </a:p>
          <a:p>
            <a:pPr marL="457200" indent="-457200">
              <a:buFont typeface="Arial" panose="020B0604020202020204" pitchFamily="34" charset="0"/>
              <a:buChar char="•"/>
            </a:pPr>
            <a:r>
              <a:rPr lang="en-IN" sz="2800" dirty="0">
                <a:latin typeface="TT Rounds Condensed" panose="020B0604020202020204" charset="0"/>
              </a:rPr>
              <a:t>Support glacier, basin and region-wise analysis </a:t>
            </a:r>
          </a:p>
          <a:p>
            <a:pPr marL="457200" indent="-457200">
              <a:buFont typeface="Arial" panose="020B0604020202020204" pitchFamily="34" charset="0"/>
              <a:buChar char="•"/>
            </a:pPr>
            <a:r>
              <a:rPr lang="en-IN" sz="2800" dirty="0">
                <a:latin typeface="TT Rounds Condensed" panose="020B0604020202020204" charset="0"/>
              </a:rPr>
              <a:t>Prepare application for both online and offline usage for system independent</a:t>
            </a:r>
          </a:p>
        </p:txBody>
      </p:sp>
      <p:sp>
        <p:nvSpPr>
          <p:cNvPr id="17" name="TextBox 16">
            <a:extLst>
              <a:ext uri="{FF2B5EF4-FFF2-40B4-BE49-F238E27FC236}">
                <a16:creationId xmlns:a16="http://schemas.microsoft.com/office/drawing/2014/main" id="{B6E9CCA7-C04A-5DAE-8068-1680E915EEBB}"/>
              </a:ext>
            </a:extLst>
          </p:cNvPr>
          <p:cNvSpPr txBox="1"/>
          <p:nvPr/>
        </p:nvSpPr>
        <p:spPr>
          <a:xfrm>
            <a:off x="4572000" y="4960444"/>
            <a:ext cx="9144000" cy="369332"/>
          </a:xfrm>
          <a:prstGeom prst="rect">
            <a:avLst/>
          </a:prstGeom>
          <a:noFill/>
        </p:spPr>
        <p:txBody>
          <a:bodyPr wrap="square">
            <a:spAutoFit/>
          </a:bodyPr>
          <a:lstStyle/>
          <a:p>
            <a:endParaRPr lang="en-IN" dirty="0"/>
          </a:p>
        </p:txBody>
      </p:sp>
      <p:pic>
        <p:nvPicPr>
          <p:cNvPr id="27" name="Picture 26">
            <a:extLst>
              <a:ext uri="{FF2B5EF4-FFF2-40B4-BE49-F238E27FC236}">
                <a16:creationId xmlns:a16="http://schemas.microsoft.com/office/drawing/2014/main" id="{753C53DD-A08F-F930-1CB2-15B8B9F58B88}"/>
              </a:ext>
            </a:extLst>
          </p:cNvPr>
          <p:cNvPicPr>
            <a:picLocks noChangeAspect="1"/>
          </p:cNvPicPr>
          <p:nvPr/>
        </p:nvPicPr>
        <p:blipFill>
          <a:blip r:embed="rId2"/>
          <a:stretch>
            <a:fillRect/>
          </a:stretch>
        </p:blipFill>
        <p:spPr>
          <a:xfrm>
            <a:off x="12344400" y="4164936"/>
            <a:ext cx="4115157" cy="36807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59C5C-0E86-6239-131D-72A9EC313BB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BF84E61-B3D2-73BE-0DCA-F5FF3D40B80D}"/>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E9A69C2F-0281-1A09-9FFE-0E7BED82211F}"/>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DE344E0F-BC1C-E70B-AD05-A41B8CA91188}"/>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1841919A-072E-DF75-B5C9-B5861507D0F7}"/>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AB336E22-A912-0F62-2C35-49A82DBF856F}"/>
              </a:ext>
            </a:extLst>
          </p:cNvPr>
          <p:cNvSpPr/>
          <p:nvPr/>
        </p:nvSpPr>
        <p:spPr>
          <a:xfrm rot="2188">
            <a:off x="1600199" y="2886172"/>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EB5A3086-676E-65FF-A624-3F899BA24ACE}"/>
              </a:ext>
            </a:extLst>
          </p:cNvPr>
          <p:cNvGrpSpPr/>
          <p:nvPr/>
        </p:nvGrpSpPr>
        <p:grpSpPr>
          <a:xfrm>
            <a:off x="1038531" y="1060674"/>
            <a:ext cx="15649269" cy="1719815"/>
            <a:chOff x="0" y="0"/>
            <a:chExt cx="20865692" cy="2293086"/>
          </a:xfrm>
        </p:grpSpPr>
        <p:sp>
          <p:nvSpPr>
            <p:cNvPr id="8" name="Freeform 8">
              <a:extLst>
                <a:ext uri="{FF2B5EF4-FFF2-40B4-BE49-F238E27FC236}">
                  <a16:creationId xmlns:a16="http://schemas.microsoft.com/office/drawing/2014/main" id="{59AD5827-B882-9548-4283-222C85FB2363}"/>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418A432F-E150-41EC-2786-EE1591D76D7A}"/>
                </a:ext>
              </a:extLst>
            </p:cNvPr>
            <p:cNvSpPr txBox="1"/>
            <p:nvPr/>
          </p:nvSpPr>
          <p:spPr>
            <a:xfrm>
              <a:off x="748892" y="123825"/>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Data Sources</a:t>
              </a:r>
            </a:p>
          </p:txBody>
        </p:sp>
      </p:grpSp>
      <p:grpSp>
        <p:nvGrpSpPr>
          <p:cNvPr id="10" name="Group 10">
            <a:extLst>
              <a:ext uri="{FF2B5EF4-FFF2-40B4-BE49-F238E27FC236}">
                <a16:creationId xmlns:a16="http://schemas.microsoft.com/office/drawing/2014/main" id="{BCCB1229-CDE2-7861-9E23-CBA11BF17A03}"/>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02CC1985-6C55-EA91-782F-0482836D98F4}"/>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0228A7B0-866B-D4F2-285B-BF10EC0C908B}"/>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215E13EC-EB98-C9EE-1780-EE4AD6A8D612}"/>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B4C954CD-1A98-DDE0-4A2E-7D61B3FB2735}"/>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E9358FAC-CA70-551C-6C43-3C8A32A82A6A}"/>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6</a:t>
              </a:r>
            </a:p>
          </p:txBody>
        </p:sp>
      </p:grpSp>
      <p:sp>
        <p:nvSpPr>
          <p:cNvPr id="19" name="TextBox 19">
            <a:extLst>
              <a:ext uri="{FF2B5EF4-FFF2-40B4-BE49-F238E27FC236}">
                <a16:creationId xmlns:a16="http://schemas.microsoft.com/office/drawing/2014/main" id="{4D813BEC-311A-E806-95A2-211B37A42C49}"/>
              </a:ext>
            </a:extLst>
          </p:cNvPr>
          <p:cNvSpPr txBox="1"/>
          <p:nvPr/>
        </p:nvSpPr>
        <p:spPr>
          <a:xfrm>
            <a:off x="1028700" y="3355045"/>
            <a:ext cx="10782300" cy="5179745"/>
          </a:xfrm>
          <a:prstGeom prst="rect">
            <a:avLst/>
          </a:prstGeom>
        </p:spPr>
        <p:txBody>
          <a:bodyPr lIns="0" tIns="0" rIns="0" bIns="0" rtlCol="0" anchor="t"/>
          <a:lstStyle/>
          <a:p>
            <a:pPr marL="342900" indent="-342900">
              <a:buFont typeface="Arial" panose="020B0604020202020204" pitchFamily="34" charset="0"/>
              <a:buChar char="•"/>
              <a:defRPr sz="2000"/>
            </a:pPr>
            <a:endParaRPr lang="en-US" sz="2800" dirty="0">
              <a:latin typeface="TT Rounds Condensed" panose="020B0604020202020204" charset="0"/>
            </a:endParaRPr>
          </a:p>
        </p:txBody>
      </p:sp>
      <p:sp>
        <p:nvSpPr>
          <p:cNvPr id="16" name="Rectangle 1">
            <a:extLst>
              <a:ext uri="{FF2B5EF4-FFF2-40B4-BE49-F238E27FC236}">
                <a16:creationId xmlns:a16="http://schemas.microsoft.com/office/drawing/2014/main" id="{A67979E3-9D7C-9910-811D-434635F7C762}"/>
              </a:ext>
            </a:extLst>
          </p:cNvPr>
          <p:cNvSpPr>
            <a:spLocks noChangeArrowheads="1"/>
          </p:cNvSpPr>
          <p:nvPr/>
        </p:nvSpPr>
        <p:spPr bwMode="auto">
          <a:xfrm>
            <a:off x="1558191" y="3294048"/>
            <a:ext cx="1452593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dirty="0"/>
              <a:t>Supported datasets:</a:t>
            </a:r>
          </a:p>
          <a:p>
            <a:pPr lvl="1"/>
            <a:r>
              <a:rPr lang="en-IN" sz="2800" dirty="0"/>
              <a:t>ERA5-Land </a:t>
            </a:r>
          </a:p>
          <a:p>
            <a:pPr lvl="1"/>
            <a:r>
              <a:rPr lang="en-IN" sz="2800" dirty="0"/>
              <a:t>CMIP6 </a:t>
            </a:r>
          </a:p>
          <a:p>
            <a:pPr lvl="1"/>
            <a:r>
              <a:rPr lang="en-IN" sz="2800" dirty="0"/>
              <a:t>SPHY </a:t>
            </a:r>
          </a:p>
          <a:p>
            <a:pPr lvl="1"/>
            <a:r>
              <a:rPr lang="en-IN" sz="2800" dirty="0"/>
              <a:t>MOD10A1 </a:t>
            </a:r>
          </a:p>
          <a:p>
            <a:pPr lvl="1"/>
            <a:r>
              <a:rPr lang="en-IN" sz="2800" dirty="0"/>
              <a:t>Glacier Boundaries </a:t>
            </a:r>
          </a:p>
          <a:p>
            <a:pPr lvl="1"/>
            <a:r>
              <a:rPr lang="en-IN" sz="2800" dirty="0"/>
              <a:t>Basin Boundaries </a:t>
            </a:r>
          </a:p>
          <a:p>
            <a:pPr lvl="1"/>
            <a:r>
              <a:rPr lang="en-IN" sz="2800" dirty="0"/>
              <a:t>User Uploaded </a:t>
            </a:r>
            <a:r>
              <a:rPr lang="en-IN" sz="2800" dirty="0" err="1"/>
              <a:t>NetCDF</a:t>
            </a:r>
            <a:r>
              <a:rPr lang="en-IN" sz="2800" dirty="0"/>
              <a:t> </a:t>
            </a:r>
          </a:p>
          <a:p>
            <a:endParaRPr lang="en-IN" sz="2800" dirty="0"/>
          </a:p>
          <a:p>
            <a:endParaRPr lang="en-IN" sz="2800" dirty="0"/>
          </a:p>
          <a:p>
            <a:r>
              <a:rPr lang="en-IN" sz="2800" b="1" dirty="0"/>
              <a:t>Supported variables:</a:t>
            </a:r>
          </a:p>
          <a:p>
            <a:r>
              <a:rPr lang="en-IN" sz="2800" dirty="0"/>
              <a:t>	Temperature, Snowfall, Snow Depth, SWE, Wind Speed, Radiation, Precipitation, Snow 	Albedo, Snow Cover</a:t>
            </a:r>
          </a:p>
        </p:txBody>
      </p:sp>
    </p:spTree>
    <p:extLst>
      <p:ext uri="{BB962C8B-B14F-4D97-AF65-F5344CB8AC3E}">
        <p14:creationId xmlns:p14="http://schemas.microsoft.com/office/powerpoint/2010/main" val="2432792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9F2BA-7247-C0D1-9089-3A52A34AF38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86FD38-2979-3275-56C7-2EC734AC5969}"/>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817B59C0-0311-0C88-BE1C-7E7D00F038F0}"/>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71DE1CBB-05F2-C755-E3A7-AFF105C43C65}"/>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BB129E26-2996-69E3-F8E4-470B460B7F63}"/>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DCA282C7-30EB-7071-A2D8-14AB204149BE}"/>
              </a:ext>
            </a:extLst>
          </p:cNvPr>
          <p:cNvSpPr/>
          <p:nvPr/>
        </p:nvSpPr>
        <p:spPr>
          <a:xfrm rot="2188">
            <a:off x="1575292" y="2347058"/>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92BA6D6E-3F3F-2BE3-6EE2-369E418007C8}"/>
              </a:ext>
            </a:extLst>
          </p:cNvPr>
          <p:cNvGrpSpPr/>
          <p:nvPr/>
        </p:nvGrpSpPr>
        <p:grpSpPr>
          <a:xfrm>
            <a:off x="1028700" y="589468"/>
            <a:ext cx="15649269" cy="1719815"/>
            <a:chOff x="0" y="0"/>
            <a:chExt cx="20865692" cy="2293086"/>
          </a:xfrm>
        </p:grpSpPr>
        <p:sp>
          <p:nvSpPr>
            <p:cNvPr id="8" name="Freeform 8">
              <a:extLst>
                <a:ext uri="{FF2B5EF4-FFF2-40B4-BE49-F238E27FC236}">
                  <a16:creationId xmlns:a16="http://schemas.microsoft.com/office/drawing/2014/main" id="{08F9E5E8-6922-0D6D-FE30-3489F3D1EFE3}"/>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D5A5F04F-FAD4-47F8-5537-7BD06917CA01}"/>
                </a:ext>
              </a:extLst>
            </p:cNvPr>
            <p:cNvSpPr txBox="1"/>
            <p:nvPr/>
          </p:nvSpPr>
          <p:spPr>
            <a:xfrm>
              <a:off x="748892" y="123825"/>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Workflow</a:t>
              </a:r>
            </a:p>
          </p:txBody>
        </p:sp>
      </p:grpSp>
      <p:grpSp>
        <p:nvGrpSpPr>
          <p:cNvPr id="10" name="Group 10">
            <a:extLst>
              <a:ext uri="{FF2B5EF4-FFF2-40B4-BE49-F238E27FC236}">
                <a16:creationId xmlns:a16="http://schemas.microsoft.com/office/drawing/2014/main" id="{8DAE7D6E-D2C9-E055-114F-68EC4E167718}"/>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67942F47-2A28-B635-368F-EFC8231A18B1}"/>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E075230A-E121-33FC-C5FE-6642DBF26F5F}"/>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6A22B430-592F-DF44-A9B2-44C40E72C42A}"/>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02AE4CCB-F141-5D10-A8DB-C42B0ACC9730}"/>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1B0ED470-63D9-534E-94E9-0D8237EB602A}"/>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10</a:t>
              </a:r>
            </a:p>
          </p:txBody>
        </p:sp>
      </p:grpSp>
      <p:sp>
        <p:nvSpPr>
          <p:cNvPr id="19" name="TextBox 19">
            <a:extLst>
              <a:ext uri="{FF2B5EF4-FFF2-40B4-BE49-F238E27FC236}">
                <a16:creationId xmlns:a16="http://schemas.microsoft.com/office/drawing/2014/main" id="{A888B15D-0067-DCB0-EF5A-B016AD5AF857}"/>
              </a:ext>
            </a:extLst>
          </p:cNvPr>
          <p:cNvSpPr txBox="1"/>
          <p:nvPr/>
        </p:nvSpPr>
        <p:spPr>
          <a:xfrm>
            <a:off x="1028700" y="3355045"/>
            <a:ext cx="10782300" cy="5179745"/>
          </a:xfrm>
          <a:prstGeom prst="rect">
            <a:avLst/>
          </a:prstGeom>
        </p:spPr>
        <p:txBody>
          <a:bodyPr lIns="0" tIns="0" rIns="0" bIns="0" rtlCol="0" anchor="t"/>
          <a:lstStyle/>
          <a:p>
            <a:pPr marL="342900" indent="-342900">
              <a:buFont typeface="Arial" panose="020B0604020202020204" pitchFamily="34" charset="0"/>
              <a:buChar char="•"/>
              <a:defRPr sz="2000"/>
            </a:pPr>
            <a:endParaRPr lang="en-US" sz="2800" dirty="0">
              <a:latin typeface="TT Rounds Condensed" panose="020B0604020202020204" charset="0"/>
            </a:endParaRPr>
          </a:p>
        </p:txBody>
      </p:sp>
      <p:sp>
        <p:nvSpPr>
          <p:cNvPr id="17" name="TextBox 16">
            <a:extLst>
              <a:ext uri="{FF2B5EF4-FFF2-40B4-BE49-F238E27FC236}">
                <a16:creationId xmlns:a16="http://schemas.microsoft.com/office/drawing/2014/main" id="{06AB8677-48B5-66AF-604F-D4074EB1DC82}"/>
              </a:ext>
            </a:extLst>
          </p:cNvPr>
          <p:cNvSpPr txBox="1"/>
          <p:nvPr/>
        </p:nvSpPr>
        <p:spPr>
          <a:xfrm>
            <a:off x="10820400" y="3848100"/>
            <a:ext cx="184731" cy="369332"/>
          </a:xfrm>
          <a:prstGeom prst="rect">
            <a:avLst/>
          </a:prstGeom>
          <a:noFill/>
        </p:spPr>
        <p:txBody>
          <a:bodyPr wrap="none" rtlCol="0">
            <a:spAutoFit/>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24" name="Ink 23">
                <a:extLst>
                  <a:ext uri="{FF2B5EF4-FFF2-40B4-BE49-F238E27FC236}">
                    <a16:creationId xmlns:a16="http://schemas.microsoft.com/office/drawing/2014/main" id="{EEB939DA-F13D-DE02-B8AE-7CA15D6D5ABC}"/>
                  </a:ext>
                </a:extLst>
              </p14:cNvPr>
              <p14:cNvContentPartPr/>
              <p14:nvPr/>
            </p14:nvContentPartPr>
            <p14:xfrm>
              <a:off x="12156900" y="9074820"/>
              <a:ext cx="980640" cy="62640"/>
            </p14:xfrm>
          </p:contentPart>
        </mc:Choice>
        <mc:Fallback xmlns="">
          <p:pic>
            <p:nvPicPr>
              <p:cNvPr id="24" name="Ink 23">
                <a:extLst>
                  <a:ext uri="{FF2B5EF4-FFF2-40B4-BE49-F238E27FC236}">
                    <a16:creationId xmlns:a16="http://schemas.microsoft.com/office/drawing/2014/main" id="{EEB939DA-F13D-DE02-B8AE-7CA15D6D5ABC}"/>
                  </a:ext>
                </a:extLst>
              </p:cNvPr>
              <p:cNvPicPr/>
              <p:nvPr/>
            </p:nvPicPr>
            <p:blipFill>
              <a:blip r:embed="rId4"/>
              <a:stretch>
                <a:fillRect/>
              </a:stretch>
            </p:blipFill>
            <p:spPr>
              <a:xfrm>
                <a:off x="12094260" y="9011820"/>
                <a:ext cx="11062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1" name="Ink 30">
                <a:extLst>
                  <a:ext uri="{FF2B5EF4-FFF2-40B4-BE49-F238E27FC236}">
                    <a16:creationId xmlns:a16="http://schemas.microsoft.com/office/drawing/2014/main" id="{5661A576-54AA-6592-9EE2-38828113CB52}"/>
                  </a:ext>
                </a:extLst>
              </p14:cNvPr>
              <p14:cNvContentPartPr/>
              <p14:nvPr/>
            </p14:nvContentPartPr>
            <p14:xfrm>
              <a:off x="17205240" y="8907480"/>
              <a:ext cx="884520" cy="183960"/>
            </p14:xfrm>
          </p:contentPart>
        </mc:Choice>
        <mc:Fallback xmlns="">
          <p:pic>
            <p:nvPicPr>
              <p:cNvPr id="31" name="Ink 30">
                <a:extLst>
                  <a:ext uri="{FF2B5EF4-FFF2-40B4-BE49-F238E27FC236}">
                    <a16:creationId xmlns:a16="http://schemas.microsoft.com/office/drawing/2014/main" id="{5661A576-54AA-6592-9EE2-38828113CB52}"/>
                  </a:ext>
                </a:extLst>
              </p:cNvPr>
              <p:cNvPicPr/>
              <p:nvPr/>
            </p:nvPicPr>
            <p:blipFill>
              <a:blip r:embed="rId6"/>
              <a:stretch>
                <a:fillRect/>
              </a:stretch>
            </p:blipFill>
            <p:spPr>
              <a:xfrm>
                <a:off x="17142240" y="8844840"/>
                <a:ext cx="101016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2" name="Ink 31">
                <a:extLst>
                  <a:ext uri="{FF2B5EF4-FFF2-40B4-BE49-F238E27FC236}">
                    <a16:creationId xmlns:a16="http://schemas.microsoft.com/office/drawing/2014/main" id="{A958CB11-599A-5E25-B1FE-07448475484E}"/>
                  </a:ext>
                </a:extLst>
              </p14:cNvPr>
              <p14:cNvContentPartPr/>
              <p14:nvPr/>
            </p14:nvContentPartPr>
            <p14:xfrm>
              <a:off x="17975280" y="8966880"/>
              <a:ext cx="144360" cy="9000"/>
            </p14:xfrm>
          </p:contentPart>
        </mc:Choice>
        <mc:Fallback xmlns="">
          <p:pic>
            <p:nvPicPr>
              <p:cNvPr id="32" name="Ink 31">
                <a:extLst>
                  <a:ext uri="{FF2B5EF4-FFF2-40B4-BE49-F238E27FC236}">
                    <a16:creationId xmlns:a16="http://schemas.microsoft.com/office/drawing/2014/main" id="{A958CB11-599A-5E25-B1FE-07448475484E}"/>
                  </a:ext>
                </a:extLst>
              </p:cNvPr>
              <p:cNvPicPr/>
              <p:nvPr/>
            </p:nvPicPr>
            <p:blipFill>
              <a:blip r:embed="rId8"/>
              <a:stretch>
                <a:fillRect/>
              </a:stretch>
            </p:blipFill>
            <p:spPr>
              <a:xfrm>
                <a:off x="17912640" y="8904240"/>
                <a:ext cx="270000" cy="134640"/>
              </a:xfrm>
              <a:prstGeom prst="rect">
                <a:avLst/>
              </a:prstGeom>
            </p:spPr>
          </p:pic>
        </mc:Fallback>
      </mc:AlternateContent>
      <p:pic>
        <p:nvPicPr>
          <p:cNvPr id="20" name="Picture 19">
            <a:extLst>
              <a:ext uri="{FF2B5EF4-FFF2-40B4-BE49-F238E27FC236}">
                <a16:creationId xmlns:a16="http://schemas.microsoft.com/office/drawing/2014/main" id="{C09B108D-6845-E4B7-AAF6-0EA212A23E3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29000" y="2684683"/>
            <a:ext cx="11887200" cy="6483927"/>
          </a:xfrm>
          <a:prstGeom prst="rect">
            <a:avLst/>
          </a:prstGeom>
        </p:spPr>
      </p:pic>
    </p:spTree>
    <p:extLst>
      <p:ext uri="{BB962C8B-B14F-4D97-AF65-F5344CB8AC3E}">
        <p14:creationId xmlns:p14="http://schemas.microsoft.com/office/powerpoint/2010/main" val="2757256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C55D0-D59A-0DC0-A259-202933D636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031FD4-0A3B-0E54-154B-BEC8A781CE5B}"/>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FF7151C1-3EC0-FF5D-ECED-A7C39593E4E1}"/>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6686F834-DE4B-AA27-9DBC-273F5AA59426}"/>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2CABDB7B-4832-0BD1-3CA2-22B3E123E937}"/>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95AD10A9-0883-2F57-F989-B96BAA0D0ACA}"/>
              </a:ext>
            </a:extLst>
          </p:cNvPr>
          <p:cNvSpPr/>
          <p:nvPr/>
        </p:nvSpPr>
        <p:spPr>
          <a:xfrm rot="2188">
            <a:off x="1341172" y="2557461"/>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02779DE2-904C-213A-6A52-EDB8EAFC8A97}"/>
              </a:ext>
            </a:extLst>
          </p:cNvPr>
          <p:cNvGrpSpPr/>
          <p:nvPr/>
        </p:nvGrpSpPr>
        <p:grpSpPr>
          <a:xfrm>
            <a:off x="1304683" y="556035"/>
            <a:ext cx="15442975" cy="2006187"/>
            <a:chOff x="-473833" y="0"/>
            <a:chExt cx="20590633" cy="2674916"/>
          </a:xfrm>
        </p:grpSpPr>
        <p:sp>
          <p:nvSpPr>
            <p:cNvPr id="8" name="Freeform 8">
              <a:extLst>
                <a:ext uri="{FF2B5EF4-FFF2-40B4-BE49-F238E27FC236}">
                  <a16:creationId xmlns:a16="http://schemas.microsoft.com/office/drawing/2014/main" id="{3920FC52-6279-1ABE-D759-6DABD01C8C7E}"/>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txBody>
            <a:bodyPr/>
            <a:lstStyle/>
            <a:p>
              <a:endParaRPr lang="en-IN" dirty="0"/>
            </a:p>
          </p:txBody>
        </p:sp>
        <p:sp>
          <p:nvSpPr>
            <p:cNvPr id="9" name="TextBox 9">
              <a:extLst>
                <a:ext uri="{FF2B5EF4-FFF2-40B4-BE49-F238E27FC236}">
                  <a16:creationId xmlns:a16="http://schemas.microsoft.com/office/drawing/2014/main" id="{6BA67092-5D51-033F-30CC-94B64C8F6DE3}"/>
                </a:ext>
              </a:extLst>
            </p:cNvPr>
            <p:cNvSpPr txBox="1"/>
            <p:nvPr/>
          </p:nvSpPr>
          <p:spPr>
            <a:xfrm>
              <a:off x="-473833" y="505655"/>
              <a:ext cx="20116800" cy="2169261"/>
            </a:xfrm>
            <a:prstGeom prst="rect">
              <a:avLst/>
            </a:prstGeom>
          </p:spPr>
          <p:txBody>
            <a:bodyPr lIns="0" tIns="0" rIns="0" bIns="0" rtlCol="0" anchor="b"/>
            <a:lstStyle/>
            <a:p>
              <a:pPr algn="l">
                <a:lnSpc>
                  <a:spcPts val="7344"/>
                </a:lnSpc>
              </a:pPr>
              <a:r>
                <a:rPr lang="en-US" sz="6600" spc="-118" dirty="0">
                  <a:solidFill>
                    <a:srgbClr val="AB620E"/>
                  </a:solidFill>
                  <a:latin typeface="TT Rounds Condensed"/>
                  <a:ea typeface="TT Rounds Condensed"/>
                  <a:cs typeface="TT Rounds Condensed"/>
                  <a:sym typeface="TT Rounds Condensed"/>
                </a:rPr>
                <a:t>System Architecture</a:t>
              </a:r>
              <a:endParaRPr lang="en-US" sz="7200" spc="-118" dirty="0">
                <a:solidFill>
                  <a:srgbClr val="AB620E"/>
                </a:solidFill>
                <a:latin typeface="TT Rounds Condensed"/>
                <a:ea typeface="TT Rounds Condensed"/>
                <a:cs typeface="TT Rounds Condensed"/>
                <a:sym typeface="TT Rounds Condensed"/>
              </a:endParaRPr>
            </a:p>
          </p:txBody>
        </p:sp>
      </p:grpSp>
      <p:grpSp>
        <p:nvGrpSpPr>
          <p:cNvPr id="10" name="Group 10">
            <a:extLst>
              <a:ext uri="{FF2B5EF4-FFF2-40B4-BE49-F238E27FC236}">
                <a16:creationId xmlns:a16="http://schemas.microsoft.com/office/drawing/2014/main" id="{FFD6E3EE-46B3-08CA-E6BB-920718FA035E}"/>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BD2DBBD6-3DD1-68A3-EEC0-2F6F7E7882B0}"/>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02ACA22D-E77A-D9C1-9450-8C60FBF9ADB8}"/>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88D7A8FA-5AEE-C33C-B687-61787105185D}"/>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10D49142-B0C7-B26A-F32E-474A980241E8}"/>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817D464D-6E85-2DDA-1459-F251046E3BD4}"/>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2</a:t>
              </a:r>
            </a:p>
          </p:txBody>
        </p:sp>
      </p:grpSp>
      <p:sp>
        <p:nvSpPr>
          <p:cNvPr id="22" name="TextBox 21">
            <a:extLst>
              <a:ext uri="{FF2B5EF4-FFF2-40B4-BE49-F238E27FC236}">
                <a16:creationId xmlns:a16="http://schemas.microsoft.com/office/drawing/2014/main" id="{F5D752E3-53FE-A25E-7984-8FFDB91D82DA}"/>
              </a:ext>
            </a:extLst>
          </p:cNvPr>
          <p:cNvSpPr txBox="1"/>
          <p:nvPr/>
        </p:nvSpPr>
        <p:spPr>
          <a:xfrm>
            <a:off x="6477000" y="5143500"/>
            <a:ext cx="45719" cy="369332"/>
          </a:xfrm>
          <a:prstGeom prst="rect">
            <a:avLst/>
          </a:prstGeom>
          <a:noFill/>
        </p:spPr>
        <p:txBody>
          <a:bodyPr wrap="square" rtlCol="0">
            <a:spAutoFit/>
          </a:bodyPr>
          <a:lstStyle/>
          <a:p>
            <a:endParaRPr lang="en-IN" dirty="0"/>
          </a:p>
        </p:txBody>
      </p:sp>
      <p:pic>
        <p:nvPicPr>
          <p:cNvPr id="17" name="Picture 16">
            <a:extLst>
              <a:ext uri="{FF2B5EF4-FFF2-40B4-BE49-F238E27FC236}">
                <a16:creationId xmlns:a16="http://schemas.microsoft.com/office/drawing/2014/main" id="{E2E40B3F-4FCC-1FA7-CD6F-24BFFB2204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0" y="2834242"/>
            <a:ext cx="11418618" cy="6232764"/>
          </a:xfrm>
          <a:prstGeom prst="rect">
            <a:avLst/>
          </a:prstGeom>
        </p:spPr>
      </p:pic>
    </p:spTree>
    <p:extLst>
      <p:ext uri="{BB962C8B-B14F-4D97-AF65-F5344CB8AC3E}">
        <p14:creationId xmlns:p14="http://schemas.microsoft.com/office/powerpoint/2010/main" val="210195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DF1B-AFB9-5D30-EBF4-D47FCED1F5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94AE00C-E520-ACD0-E1F9-680B9BD3B4B5}"/>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2B90487D-3848-9ED9-F1B0-174C6F1DA760}"/>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6B3A18A8-4E8A-DB36-5458-98C1D79F3E3E}"/>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BA415811-4EF0-5629-106A-FE20EEE27E02}"/>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393E0CEC-C26F-4399-2F82-72E881CF23D1}"/>
              </a:ext>
            </a:extLst>
          </p:cNvPr>
          <p:cNvSpPr/>
          <p:nvPr/>
        </p:nvSpPr>
        <p:spPr>
          <a:xfrm rot="2188">
            <a:off x="1600199" y="2886172"/>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6D9E0C77-B069-32F3-1359-A2A5201D4848}"/>
              </a:ext>
            </a:extLst>
          </p:cNvPr>
          <p:cNvGrpSpPr/>
          <p:nvPr/>
        </p:nvGrpSpPr>
        <p:grpSpPr>
          <a:xfrm>
            <a:off x="1038531" y="1060674"/>
            <a:ext cx="15649269" cy="1719815"/>
            <a:chOff x="0" y="0"/>
            <a:chExt cx="20865692" cy="2293086"/>
          </a:xfrm>
        </p:grpSpPr>
        <p:sp>
          <p:nvSpPr>
            <p:cNvPr id="8" name="Freeform 8">
              <a:extLst>
                <a:ext uri="{FF2B5EF4-FFF2-40B4-BE49-F238E27FC236}">
                  <a16:creationId xmlns:a16="http://schemas.microsoft.com/office/drawing/2014/main" id="{D0D69D93-A9B5-B946-A268-3ACD28073D01}"/>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1DA31C26-723A-B290-16E7-F5FDF3952440}"/>
                </a:ext>
              </a:extLst>
            </p:cNvPr>
            <p:cNvSpPr txBox="1"/>
            <p:nvPr/>
          </p:nvSpPr>
          <p:spPr>
            <a:xfrm>
              <a:off x="748892" y="123825"/>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Tools and Technology </a:t>
              </a:r>
            </a:p>
          </p:txBody>
        </p:sp>
      </p:grpSp>
      <p:grpSp>
        <p:nvGrpSpPr>
          <p:cNvPr id="10" name="Group 10">
            <a:extLst>
              <a:ext uri="{FF2B5EF4-FFF2-40B4-BE49-F238E27FC236}">
                <a16:creationId xmlns:a16="http://schemas.microsoft.com/office/drawing/2014/main" id="{AE9DAD22-53FE-4040-EACF-E64005B16108}"/>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398620F2-B8A7-06B0-C46B-3829A1802B08}"/>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74796E20-CD15-6E3A-81DE-5B3ACCD25C02}"/>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EA041267-43DD-9F92-9435-31C6F81A3E1F}"/>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24AFABC6-03DD-858F-693C-38B2278212C6}"/>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C1A9F7F5-DD20-FA3D-AA99-936D408D1EAC}"/>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8</a:t>
              </a:r>
            </a:p>
          </p:txBody>
        </p:sp>
      </p:grpSp>
      <p:sp>
        <p:nvSpPr>
          <p:cNvPr id="19" name="TextBox 19">
            <a:extLst>
              <a:ext uri="{FF2B5EF4-FFF2-40B4-BE49-F238E27FC236}">
                <a16:creationId xmlns:a16="http://schemas.microsoft.com/office/drawing/2014/main" id="{CFE2CAFB-3983-AA88-FF89-FC1BFA441575}"/>
              </a:ext>
            </a:extLst>
          </p:cNvPr>
          <p:cNvSpPr txBox="1"/>
          <p:nvPr/>
        </p:nvSpPr>
        <p:spPr>
          <a:xfrm>
            <a:off x="1028700" y="3355045"/>
            <a:ext cx="10782300" cy="5179745"/>
          </a:xfrm>
          <a:prstGeom prst="rect">
            <a:avLst/>
          </a:prstGeom>
        </p:spPr>
        <p:txBody>
          <a:bodyPr lIns="0" tIns="0" rIns="0" bIns="0" rtlCol="0" anchor="t"/>
          <a:lstStyle/>
          <a:p>
            <a:pPr marL="342900" indent="-342900">
              <a:buFont typeface="Arial" panose="020B0604020202020204" pitchFamily="34" charset="0"/>
              <a:buChar char="•"/>
              <a:defRPr sz="2000"/>
            </a:pPr>
            <a:endParaRPr lang="en-US" sz="2800" dirty="0">
              <a:latin typeface="TT Rounds Condensed" panose="020B0604020202020204" charset="0"/>
            </a:endParaRPr>
          </a:p>
        </p:txBody>
      </p:sp>
      <p:sp>
        <p:nvSpPr>
          <p:cNvPr id="16" name="Rectangle 1">
            <a:extLst>
              <a:ext uri="{FF2B5EF4-FFF2-40B4-BE49-F238E27FC236}">
                <a16:creationId xmlns:a16="http://schemas.microsoft.com/office/drawing/2014/main" id="{44465164-B075-8699-A753-192EEA445933}"/>
              </a:ext>
            </a:extLst>
          </p:cNvPr>
          <p:cNvSpPr>
            <a:spLocks noChangeArrowheads="1"/>
          </p:cNvSpPr>
          <p:nvPr/>
        </p:nvSpPr>
        <p:spPr bwMode="auto">
          <a:xfrm>
            <a:off x="1587321" y="3719846"/>
            <a:ext cx="148209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lgn="just"/>
            <a:r>
              <a:rPr lang="en-IN" sz="2800" b="1" dirty="0"/>
              <a:t>Frontend:</a:t>
            </a:r>
            <a:r>
              <a:rPr lang="en-IN" sz="2800" dirty="0"/>
              <a:t> React, Vite, JavaScript, CSS </a:t>
            </a:r>
          </a:p>
          <a:p>
            <a:pPr lvl="1" algn="just"/>
            <a:r>
              <a:rPr lang="en-IN" sz="2800" b="1" dirty="0"/>
              <a:t>Backend:</a:t>
            </a:r>
            <a:r>
              <a:rPr lang="en-IN" sz="2800" dirty="0"/>
              <a:t> Python, </a:t>
            </a:r>
            <a:r>
              <a:rPr lang="en-IN" sz="2800" dirty="0" err="1"/>
              <a:t>FastAPI</a:t>
            </a:r>
            <a:r>
              <a:rPr lang="en-IN" sz="2800" dirty="0"/>
              <a:t>, </a:t>
            </a:r>
            <a:r>
              <a:rPr lang="en-IN" sz="2800" dirty="0" err="1"/>
              <a:t>Uvicorn</a:t>
            </a:r>
            <a:r>
              <a:rPr lang="en-IN" sz="2800" dirty="0"/>
              <a:t> </a:t>
            </a:r>
          </a:p>
          <a:p>
            <a:pPr lvl="1" algn="just"/>
            <a:r>
              <a:rPr lang="en-IN" sz="2800" b="1" dirty="0"/>
              <a:t>Mapping:</a:t>
            </a:r>
            <a:r>
              <a:rPr lang="en-IN" sz="2800" dirty="0"/>
              <a:t> </a:t>
            </a:r>
            <a:r>
              <a:rPr lang="en-IN" sz="2800" dirty="0" err="1"/>
              <a:t>MapLibre</a:t>
            </a:r>
            <a:r>
              <a:rPr lang="en-IN" sz="2800" dirty="0"/>
              <a:t> GL, </a:t>
            </a:r>
            <a:r>
              <a:rPr lang="en-IN" sz="2800" dirty="0" err="1"/>
              <a:t>PMTiles</a:t>
            </a:r>
            <a:r>
              <a:rPr lang="en-IN" sz="2800" dirty="0"/>
              <a:t>, </a:t>
            </a:r>
            <a:r>
              <a:rPr lang="en-IN" sz="2800" dirty="0" err="1"/>
              <a:t>GeoJSON</a:t>
            </a:r>
            <a:r>
              <a:rPr lang="en-IN" sz="2800" dirty="0"/>
              <a:t>, </a:t>
            </a:r>
            <a:r>
              <a:rPr lang="en-IN" sz="2800" dirty="0" err="1"/>
              <a:t>GeoParquet</a:t>
            </a:r>
            <a:r>
              <a:rPr lang="en-IN" sz="2800" dirty="0"/>
              <a:t> </a:t>
            </a:r>
          </a:p>
          <a:p>
            <a:pPr lvl="1" algn="just"/>
            <a:r>
              <a:rPr lang="en-IN" sz="2800" b="1" dirty="0"/>
              <a:t>Data Processing:</a:t>
            </a:r>
            <a:r>
              <a:rPr lang="en-IN" sz="2800" dirty="0"/>
              <a:t> Pandas, NumPy, </a:t>
            </a:r>
            <a:r>
              <a:rPr lang="en-IN" sz="2800" dirty="0" err="1"/>
              <a:t>PyArrow</a:t>
            </a:r>
            <a:r>
              <a:rPr lang="en-IN" sz="2800" dirty="0"/>
              <a:t>, </a:t>
            </a:r>
            <a:r>
              <a:rPr lang="en-IN" sz="2800" dirty="0" err="1"/>
              <a:t>Rasterio</a:t>
            </a:r>
            <a:r>
              <a:rPr lang="en-IN" sz="2800" dirty="0"/>
              <a:t>, </a:t>
            </a:r>
            <a:r>
              <a:rPr lang="en-IN" sz="2800" dirty="0" err="1"/>
              <a:t>GeoPandas</a:t>
            </a:r>
            <a:r>
              <a:rPr lang="en-IN" sz="2800" dirty="0"/>
              <a:t> </a:t>
            </a:r>
          </a:p>
          <a:p>
            <a:pPr lvl="1" algn="just"/>
            <a:r>
              <a:rPr lang="en-IN" sz="2800" b="1" dirty="0"/>
              <a:t>Data Formats:</a:t>
            </a:r>
            <a:r>
              <a:rPr lang="en-IN" sz="2800" dirty="0"/>
              <a:t> Parquet, </a:t>
            </a:r>
            <a:r>
              <a:rPr lang="en-IN" sz="2800" dirty="0" err="1"/>
              <a:t>GeoParquet</a:t>
            </a:r>
            <a:r>
              <a:rPr lang="en-IN" sz="2800" dirty="0"/>
              <a:t>, </a:t>
            </a:r>
            <a:r>
              <a:rPr lang="en-IN" sz="2800" dirty="0" err="1"/>
              <a:t>GeoTIFF</a:t>
            </a:r>
            <a:r>
              <a:rPr lang="en-IN" sz="2800" dirty="0"/>
              <a:t>, </a:t>
            </a:r>
            <a:r>
              <a:rPr lang="en-IN" sz="2800" dirty="0" err="1"/>
              <a:t>NetCDF</a:t>
            </a:r>
            <a:r>
              <a:rPr lang="en-IN" sz="2800" dirty="0"/>
              <a:t>, CSV </a:t>
            </a:r>
          </a:p>
          <a:p>
            <a:pPr lvl="1" algn="just"/>
            <a:r>
              <a:rPr lang="en-IN" sz="2800" b="1" dirty="0"/>
              <a:t>Datasets:</a:t>
            </a:r>
            <a:r>
              <a:rPr lang="en-IN" sz="2800" dirty="0"/>
              <a:t> ERA5-Land, CMIP6, MODIS MOD10A1, SPHY model outputs, GLIMS glacier inventory </a:t>
            </a:r>
          </a:p>
          <a:p>
            <a:pPr lvl="1" algn="just"/>
            <a:r>
              <a:rPr lang="en-IN" sz="2800" b="1" dirty="0"/>
              <a:t>Deployment:</a:t>
            </a:r>
            <a:r>
              <a:rPr lang="en-IN" sz="2800" dirty="0"/>
              <a:t> </a:t>
            </a:r>
            <a:r>
              <a:rPr lang="en-IN" sz="2800" dirty="0" err="1"/>
              <a:t>Vercel</a:t>
            </a:r>
            <a:r>
              <a:rPr lang="en-IN" sz="2800" dirty="0"/>
              <a:t>, Hugging Face Spaces, Docker </a:t>
            </a:r>
          </a:p>
          <a:p>
            <a:pPr lvl="1" algn="just"/>
            <a:r>
              <a:rPr lang="en-IN" sz="2800" b="1" dirty="0"/>
              <a:t>Offline Packaging:</a:t>
            </a:r>
            <a:r>
              <a:rPr lang="en-IN" sz="2800" dirty="0"/>
              <a:t> </a:t>
            </a:r>
            <a:r>
              <a:rPr lang="en-IN" sz="2800" dirty="0" err="1"/>
              <a:t>PyInstaller</a:t>
            </a:r>
            <a:r>
              <a:rPr lang="en-IN" sz="2800" dirty="0"/>
              <a:t>, PowerShell/BAT launcher </a:t>
            </a:r>
          </a:p>
          <a:p>
            <a:pPr lvl="1" algn="just"/>
            <a:r>
              <a:rPr lang="en-IN" sz="2800" b="1" dirty="0"/>
              <a:t>Visualization:</a:t>
            </a:r>
            <a:r>
              <a:rPr lang="en-IN" sz="2800" dirty="0"/>
              <a:t> Interactive maps, time-series plots, hotspot analysis map</a:t>
            </a:r>
          </a:p>
        </p:txBody>
      </p:sp>
    </p:spTree>
    <p:extLst>
      <p:ext uri="{BB962C8B-B14F-4D97-AF65-F5344CB8AC3E}">
        <p14:creationId xmlns:p14="http://schemas.microsoft.com/office/powerpoint/2010/main" val="116039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E2328-7AFC-2889-7C23-680C48F8AF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7A1BE1-9DE0-B924-3C2B-5C3A78EAFDCC}"/>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E190D8BC-EB25-B72C-9CD8-0DA34600A1D6}"/>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30015109-0873-F1B5-F61E-4421843B8D13}"/>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D87BFDA1-21D9-675E-C526-ADAD5FAE12CA}"/>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EDB5D61B-B4E6-8312-C747-FD68DD37C1E1}"/>
              </a:ext>
            </a:extLst>
          </p:cNvPr>
          <p:cNvSpPr/>
          <p:nvPr/>
        </p:nvSpPr>
        <p:spPr>
          <a:xfrm rot="2188">
            <a:off x="1554825" y="2353699"/>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E3B6B149-3A00-920C-367E-429CEF106B93}"/>
              </a:ext>
            </a:extLst>
          </p:cNvPr>
          <p:cNvGrpSpPr/>
          <p:nvPr/>
        </p:nvGrpSpPr>
        <p:grpSpPr>
          <a:xfrm>
            <a:off x="1038531" y="634257"/>
            <a:ext cx="15649269" cy="2146232"/>
            <a:chOff x="0" y="-568556"/>
            <a:chExt cx="20865692" cy="2861642"/>
          </a:xfrm>
        </p:grpSpPr>
        <p:sp>
          <p:nvSpPr>
            <p:cNvPr id="8" name="Freeform 8">
              <a:extLst>
                <a:ext uri="{FF2B5EF4-FFF2-40B4-BE49-F238E27FC236}">
                  <a16:creationId xmlns:a16="http://schemas.microsoft.com/office/drawing/2014/main" id="{352784A9-E652-C1A2-240E-F1D001CDF762}"/>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AF19A80D-C35C-E1BF-E0FE-E73EB7514E99}"/>
                </a:ext>
              </a:extLst>
            </p:cNvPr>
            <p:cNvSpPr txBox="1"/>
            <p:nvPr/>
          </p:nvSpPr>
          <p:spPr>
            <a:xfrm>
              <a:off x="748892" y="-568556"/>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Major Functionalities</a:t>
              </a:r>
            </a:p>
          </p:txBody>
        </p:sp>
      </p:grpSp>
      <p:grpSp>
        <p:nvGrpSpPr>
          <p:cNvPr id="10" name="Group 10">
            <a:extLst>
              <a:ext uri="{FF2B5EF4-FFF2-40B4-BE49-F238E27FC236}">
                <a16:creationId xmlns:a16="http://schemas.microsoft.com/office/drawing/2014/main" id="{6BA311D6-FA08-F1A0-944D-F7EC9CC37BC7}"/>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537EAB56-F77A-6970-1D3E-1A61FDA29B48}"/>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96722DFF-9EED-F024-7C97-5476F9382E99}"/>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474184B7-614A-C844-AB31-F88A7095CC48}"/>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539DC4FD-AABA-1C1B-3B96-30BB2E7C3B86}"/>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87AE2B13-1BAE-F3AF-597F-DC5275BFD826}"/>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9</a:t>
              </a:r>
            </a:p>
          </p:txBody>
        </p:sp>
      </p:grpSp>
      <p:sp>
        <p:nvSpPr>
          <p:cNvPr id="19" name="TextBox 19">
            <a:extLst>
              <a:ext uri="{FF2B5EF4-FFF2-40B4-BE49-F238E27FC236}">
                <a16:creationId xmlns:a16="http://schemas.microsoft.com/office/drawing/2014/main" id="{CA721D91-45C1-C09D-9151-0AE6AC77CE81}"/>
              </a:ext>
            </a:extLst>
          </p:cNvPr>
          <p:cNvSpPr txBox="1"/>
          <p:nvPr/>
        </p:nvSpPr>
        <p:spPr>
          <a:xfrm>
            <a:off x="1028700" y="3355045"/>
            <a:ext cx="10782300" cy="5179745"/>
          </a:xfrm>
          <a:prstGeom prst="rect">
            <a:avLst/>
          </a:prstGeom>
        </p:spPr>
        <p:txBody>
          <a:bodyPr lIns="0" tIns="0" rIns="0" bIns="0" rtlCol="0" anchor="t"/>
          <a:lstStyle/>
          <a:p>
            <a:pPr marL="342900" indent="-342900">
              <a:buFont typeface="Arial" panose="020B0604020202020204" pitchFamily="34" charset="0"/>
              <a:buChar char="•"/>
              <a:defRPr sz="2000"/>
            </a:pPr>
            <a:endParaRPr lang="en-US" sz="2800" dirty="0">
              <a:latin typeface="TT Rounds Condensed" panose="020B0604020202020204" charset="0"/>
            </a:endParaRPr>
          </a:p>
        </p:txBody>
      </p:sp>
      <p:sp>
        <p:nvSpPr>
          <p:cNvPr id="22" name="Rectangle 4">
            <a:extLst>
              <a:ext uri="{FF2B5EF4-FFF2-40B4-BE49-F238E27FC236}">
                <a16:creationId xmlns:a16="http://schemas.microsoft.com/office/drawing/2014/main" id="{42BAE3EC-7EB0-8C79-DC2F-FE5DE19BD3EE}"/>
              </a:ext>
            </a:extLst>
          </p:cNvPr>
          <p:cNvSpPr>
            <a:spLocks noChangeArrowheads="1"/>
          </p:cNvSpPr>
          <p:nvPr/>
        </p:nvSpPr>
        <p:spPr bwMode="auto">
          <a:xfrm>
            <a:off x="1889238" y="3520684"/>
            <a:ext cx="14929486"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800" b="1" dirty="0">
                <a:latin typeface="TT Rounds Condensed" panose="020B0604020202020204" charset="0"/>
              </a:rPr>
              <a:t>Region Selection:</a:t>
            </a:r>
            <a:r>
              <a:rPr lang="en-IN" sz="2800" dirty="0">
                <a:latin typeface="TT Rounds Condensed" panose="020B0604020202020204" charset="0"/>
              </a:rPr>
              <a:t> Rectangle draw, </a:t>
            </a:r>
            <a:r>
              <a:rPr lang="en-IN" sz="2800" dirty="0" err="1">
                <a:latin typeface="TT Rounds Condensed" panose="020B0604020202020204" charset="0"/>
              </a:rPr>
              <a:t>lat</a:t>
            </a:r>
            <a:r>
              <a:rPr lang="en-IN" sz="2800" dirty="0">
                <a:latin typeface="TT Rounds Condensed" panose="020B0604020202020204" charset="0"/>
              </a:rPr>
              <a:t>/</a:t>
            </a:r>
            <a:r>
              <a:rPr lang="en-IN" sz="2800" dirty="0" err="1">
                <a:latin typeface="TT Rounds Condensed" panose="020B0604020202020204" charset="0"/>
              </a:rPr>
              <a:t>lon</a:t>
            </a:r>
            <a:r>
              <a:rPr lang="en-IN" sz="2800" dirty="0">
                <a:latin typeface="TT Rounds Condensed" panose="020B0604020202020204" charset="0"/>
              </a:rPr>
              <a:t> bounds, subregion dropdown, glacier-linked selection with 			           visible point counts</a:t>
            </a:r>
          </a:p>
          <a:p>
            <a:pPr algn="just"/>
            <a:r>
              <a:rPr lang="en-IN" sz="2800" b="1" dirty="0">
                <a:latin typeface="TT Rounds Condensed" panose="020B0604020202020204" charset="0"/>
              </a:rPr>
              <a:t>Time-Series Graphs:</a:t>
            </a:r>
            <a:r>
              <a:rPr lang="en-IN" sz="2800" dirty="0">
                <a:latin typeface="TT Rounds Condensed" panose="020B0604020202020204" charset="0"/>
              </a:rPr>
              <a:t> Basin mean and region mean plots with zoomable periods; window persists across 			     variable changes</a:t>
            </a:r>
          </a:p>
          <a:p>
            <a:pPr algn="just"/>
            <a:r>
              <a:rPr lang="en-IN" sz="2800" b="1" dirty="0">
                <a:latin typeface="TT Rounds Condensed" panose="020B0604020202020204" charset="0"/>
              </a:rPr>
              <a:t>Hotspot Analysis:</a:t>
            </a:r>
            <a:r>
              <a:rPr lang="en-IN" sz="2800" dirty="0">
                <a:latin typeface="TT Rounds Condensed" panose="020B0604020202020204" charset="0"/>
              </a:rPr>
              <a:t> Point-wise annual trend fitting (Y = </a:t>
            </a:r>
            <a:r>
              <a:rPr lang="en-IN" sz="2800" dirty="0" err="1">
                <a:latin typeface="TT Rounds Condensed" panose="020B0604020202020204" charset="0"/>
              </a:rPr>
              <a:t>aX</a:t>
            </a:r>
            <a:r>
              <a:rPr lang="en-IN" sz="2800" dirty="0">
                <a:latin typeface="TT Rounds Condensed" panose="020B0604020202020204" charset="0"/>
              </a:rPr>
              <a:t> + b), percentile classification (P70/P85/P95), 		             trend strength distribution</a:t>
            </a:r>
          </a:p>
          <a:p>
            <a:pPr algn="just"/>
            <a:r>
              <a:rPr lang="en-IN" sz="2800" b="1" dirty="0">
                <a:latin typeface="TT Rounds Condensed" panose="020B0604020202020204" charset="0"/>
              </a:rPr>
              <a:t>Outcome Module:</a:t>
            </a:r>
            <a:r>
              <a:rPr lang="en-IN" sz="2800" dirty="0">
                <a:latin typeface="TT Rounds Condensed" panose="020B0604020202020204" charset="0"/>
              </a:rPr>
              <a:t> Precomputed multi-decade band means (1951-1975, 1976-2000, 2001-2025) for 				long-term comparison</a:t>
            </a:r>
          </a:p>
          <a:p>
            <a:pPr algn="just"/>
            <a:r>
              <a:rPr lang="en-IN" sz="2800" b="1" dirty="0" err="1">
                <a:latin typeface="TT Rounds Condensed" panose="020B0604020202020204" charset="0"/>
              </a:rPr>
              <a:t>NetCDF</a:t>
            </a:r>
            <a:r>
              <a:rPr lang="en-IN" sz="2800" b="1" dirty="0">
                <a:latin typeface="TT Rounds Condensed" panose="020B0604020202020204" charset="0"/>
              </a:rPr>
              <a:t> Upload:</a:t>
            </a:r>
            <a:r>
              <a:rPr lang="en-IN" sz="2800" dirty="0">
                <a:latin typeface="TT Rounds Condensed" panose="020B0604020202020204" charset="0"/>
              </a:rPr>
              <a:t> User-uploaded gridded data with structure inspection and modular ingestion</a:t>
            </a:r>
          </a:p>
          <a:p>
            <a:pPr algn="just"/>
            <a:r>
              <a:rPr lang="en-IN" sz="2800" b="1" dirty="0">
                <a:latin typeface="TT Rounds Condensed" panose="020B0604020202020204" charset="0"/>
              </a:rPr>
              <a:t>Documentation Module:</a:t>
            </a:r>
            <a:r>
              <a:rPr lang="en-IN" sz="2800" dirty="0">
                <a:latin typeface="TT Rounds Condensed" panose="020B0604020202020204" charset="0"/>
              </a:rPr>
              <a:t> In-app scientific manual explaining project context, data sources, API design, 			             and limitations</a:t>
            </a:r>
          </a:p>
        </p:txBody>
      </p:sp>
    </p:spTree>
    <p:extLst>
      <p:ext uri="{BB962C8B-B14F-4D97-AF65-F5344CB8AC3E}">
        <p14:creationId xmlns:p14="http://schemas.microsoft.com/office/powerpoint/2010/main" val="3462168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5FA5-BDB5-6D91-0820-C3F67766F6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775A02-D9FB-1516-6389-5639CE62C5E5}"/>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167170AF-FC9B-3CE1-2FA3-9A458C8EF4C7}"/>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9C087E6B-E6F9-B3D1-5D6E-A36FDB8B4D5B}"/>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CC28EDF3-162F-9D64-1313-87072F22CDD5}"/>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3AD80E84-DC5A-6E9D-85ED-E873026F5586}"/>
              </a:ext>
            </a:extLst>
          </p:cNvPr>
          <p:cNvSpPr/>
          <p:nvPr/>
        </p:nvSpPr>
        <p:spPr>
          <a:xfrm rot="2188">
            <a:off x="1653917" y="2078685"/>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699A7DEF-EC48-715A-CA7C-40ADCB5B2CBC}"/>
              </a:ext>
            </a:extLst>
          </p:cNvPr>
          <p:cNvGrpSpPr/>
          <p:nvPr/>
        </p:nvGrpSpPr>
        <p:grpSpPr>
          <a:xfrm>
            <a:off x="1028431" y="398342"/>
            <a:ext cx="15585452" cy="2251013"/>
            <a:chOff x="0" y="-708264"/>
            <a:chExt cx="20780603" cy="3001350"/>
          </a:xfrm>
        </p:grpSpPr>
        <p:sp>
          <p:nvSpPr>
            <p:cNvPr id="8" name="Freeform 8">
              <a:extLst>
                <a:ext uri="{FF2B5EF4-FFF2-40B4-BE49-F238E27FC236}">
                  <a16:creationId xmlns:a16="http://schemas.microsoft.com/office/drawing/2014/main" id="{B95696BC-AE8C-2345-F594-97329A1F6611}"/>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50DC2298-4604-2FDF-086B-4559F5313C4D}"/>
                </a:ext>
              </a:extLst>
            </p:cNvPr>
            <p:cNvSpPr txBox="1"/>
            <p:nvPr/>
          </p:nvSpPr>
          <p:spPr>
            <a:xfrm>
              <a:off x="663803" y="-708264"/>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 Screenshots</a:t>
              </a:r>
            </a:p>
          </p:txBody>
        </p:sp>
      </p:grpSp>
      <p:grpSp>
        <p:nvGrpSpPr>
          <p:cNvPr id="10" name="Group 10">
            <a:extLst>
              <a:ext uri="{FF2B5EF4-FFF2-40B4-BE49-F238E27FC236}">
                <a16:creationId xmlns:a16="http://schemas.microsoft.com/office/drawing/2014/main" id="{F405D7BE-BC2A-9F53-0424-1FD18F80FFB7}"/>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7485205D-B63F-4304-B972-8CD38BC37CAB}"/>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B7129D06-E462-8BD0-1D74-CB91FF70457B}"/>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10079E5B-E141-6A37-DB8F-12023F6EA71D}"/>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86A5A165-6807-B371-AB71-5D1391FEFA44}"/>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9C797770-57B4-4DC1-6930-7212DF6FAC74}"/>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12</a:t>
              </a:r>
            </a:p>
          </p:txBody>
        </p:sp>
      </p:grpSp>
      <p:sp>
        <p:nvSpPr>
          <p:cNvPr id="19" name="TextBox 19">
            <a:extLst>
              <a:ext uri="{FF2B5EF4-FFF2-40B4-BE49-F238E27FC236}">
                <a16:creationId xmlns:a16="http://schemas.microsoft.com/office/drawing/2014/main" id="{BBE1471B-1BB2-AAEC-CEDA-744CDF93A85C}"/>
              </a:ext>
            </a:extLst>
          </p:cNvPr>
          <p:cNvSpPr txBox="1"/>
          <p:nvPr/>
        </p:nvSpPr>
        <p:spPr>
          <a:xfrm>
            <a:off x="1526283" y="2470634"/>
            <a:ext cx="5067300" cy="481132"/>
          </a:xfrm>
          <a:prstGeom prst="rect">
            <a:avLst/>
          </a:prstGeom>
        </p:spPr>
        <p:txBody>
          <a:bodyPr lIns="0" tIns="0" rIns="0" bIns="0" rtlCol="0" anchor="t"/>
          <a:lstStyle/>
          <a:p>
            <a:pPr marL="342900" indent="-342900">
              <a:buFont typeface="Arial" panose="020B0604020202020204" pitchFamily="34" charset="0"/>
              <a:buChar char="•"/>
              <a:defRPr sz="2000"/>
            </a:pPr>
            <a:r>
              <a:rPr lang="en-US" sz="2800" b="1" dirty="0">
                <a:latin typeface="TT Rounds Condensed" panose="020B0604020202020204" charset="0"/>
              </a:rPr>
              <a:t>Dashboard</a:t>
            </a:r>
          </a:p>
        </p:txBody>
      </p:sp>
      <p:pic>
        <p:nvPicPr>
          <p:cNvPr id="18" name="Picture 17">
            <a:extLst>
              <a:ext uri="{FF2B5EF4-FFF2-40B4-BE49-F238E27FC236}">
                <a16:creationId xmlns:a16="http://schemas.microsoft.com/office/drawing/2014/main" id="{F39EB14E-3702-8683-736C-A09CB2481B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3180554"/>
            <a:ext cx="7467600" cy="3570276"/>
          </a:xfrm>
          <a:prstGeom prst="rect">
            <a:avLst/>
          </a:prstGeom>
        </p:spPr>
      </p:pic>
      <p:pic>
        <p:nvPicPr>
          <p:cNvPr id="23" name="Picture 22">
            <a:extLst>
              <a:ext uri="{FF2B5EF4-FFF2-40B4-BE49-F238E27FC236}">
                <a16:creationId xmlns:a16="http://schemas.microsoft.com/office/drawing/2014/main" id="{4D00F03B-272C-1FF0-281D-8D37254B96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00" y="5103116"/>
            <a:ext cx="8251927" cy="3882754"/>
          </a:xfrm>
          <a:prstGeom prst="rect">
            <a:avLst/>
          </a:prstGeom>
        </p:spPr>
      </p:pic>
    </p:spTree>
    <p:extLst>
      <p:ext uri="{BB962C8B-B14F-4D97-AF65-F5344CB8AC3E}">
        <p14:creationId xmlns:p14="http://schemas.microsoft.com/office/powerpoint/2010/main" val="132994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B0983-39D2-92A3-9FA9-D24CDEF7056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43ED05-AC24-02F0-7124-54CC48351D21}"/>
              </a:ext>
            </a:extLst>
          </p:cNvPr>
          <p:cNvGrpSpPr/>
          <p:nvPr/>
        </p:nvGrpSpPr>
        <p:grpSpPr>
          <a:xfrm>
            <a:off x="1" y="9601200"/>
            <a:ext cx="18288000" cy="685800"/>
            <a:chOff x="0" y="0"/>
            <a:chExt cx="24384000" cy="914400"/>
          </a:xfrm>
        </p:grpSpPr>
        <p:sp>
          <p:nvSpPr>
            <p:cNvPr id="3" name="Freeform 3">
              <a:extLst>
                <a:ext uri="{FF2B5EF4-FFF2-40B4-BE49-F238E27FC236}">
                  <a16:creationId xmlns:a16="http://schemas.microsoft.com/office/drawing/2014/main" id="{EFAF7998-7733-2131-AA0F-8A05958C42B4}"/>
                </a:ext>
              </a:extLst>
            </p:cNvPr>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a:extLst>
              <a:ext uri="{FF2B5EF4-FFF2-40B4-BE49-F238E27FC236}">
                <a16:creationId xmlns:a16="http://schemas.microsoft.com/office/drawing/2014/main" id="{19DE7391-4680-5CCC-7A78-2A52B1E90C81}"/>
              </a:ext>
            </a:extLst>
          </p:cNvPr>
          <p:cNvGrpSpPr/>
          <p:nvPr/>
        </p:nvGrpSpPr>
        <p:grpSpPr>
          <a:xfrm>
            <a:off x="0" y="9501474"/>
            <a:ext cx="18288002" cy="98997"/>
            <a:chOff x="0" y="0"/>
            <a:chExt cx="24384002" cy="131996"/>
          </a:xfrm>
        </p:grpSpPr>
        <p:sp>
          <p:nvSpPr>
            <p:cNvPr id="5" name="Freeform 5">
              <a:extLst>
                <a:ext uri="{FF2B5EF4-FFF2-40B4-BE49-F238E27FC236}">
                  <a16:creationId xmlns:a16="http://schemas.microsoft.com/office/drawing/2014/main" id="{B9B267B4-67B1-881F-B591-081645E8BE10}"/>
                </a:ext>
              </a:extLst>
            </p:cNvPr>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a:extLst>
              <a:ext uri="{FF2B5EF4-FFF2-40B4-BE49-F238E27FC236}">
                <a16:creationId xmlns:a16="http://schemas.microsoft.com/office/drawing/2014/main" id="{7F14F35D-F541-DDD5-140B-E055C85DA079}"/>
              </a:ext>
            </a:extLst>
          </p:cNvPr>
          <p:cNvSpPr/>
          <p:nvPr/>
        </p:nvSpPr>
        <p:spPr>
          <a:xfrm rot="2188">
            <a:off x="1600198" y="2360697"/>
            <a:ext cx="14959968" cy="0"/>
          </a:xfrm>
          <a:prstGeom prst="line">
            <a:avLst/>
          </a:prstGeom>
          <a:ln w="9525" cap="rnd">
            <a:solidFill>
              <a:srgbClr val="000000"/>
            </a:solidFill>
            <a:prstDash val="solid"/>
            <a:headEnd type="none" w="sm" len="sm"/>
            <a:tailEnd type="none" w="sm" len="sm"/>
          </a:ln>
        </p:spPr>
        <p:txBody>
          <a:bodyPr/>
          <a:lstStyle/>
          <a:p>
            <a:endParaRPr lang="en-IN" dirty="0"/>
          </a:p>
        </p:txBody>
      </p:sp>
      <p:grpSp>
        <p:nvGrpSpPr>
          <p:cNvPr id="7" name="Group 7">
            <a:extLst>
              <a:ext uri="{FF2B5EF4-FFF2-40B4-BE49-F238E27FC236}">
                <a16:creationId xmlns:a16="http://schemas.microsoft.com/office/drawing/2014/main" id="{B5F1D93B-285A-6ED2-2DD9-1870CBFF36CC}"/>
              </a:ext>
            </a:extLst>
          </p:cNvPr>
          <p:cNvGrpSpPr/>
          <p:nvPr/>
        </p:nvGrpSpPr>
        <p:grpSpPr>
          <a:xfrm>
            <a:off x="1038531" y="657178"/>
            <a:ext cx="15649269" cy="2123311"/>
            <a:chOff x="0" y="-537995"/>
            <a:chExt cx="20865692" cy="2831081"/>
          </a:xfrm>
        </p:grpSpPr>
        <p:sp>
          <p:nvSpPr>
            <p:cNvPr id="8" name="Freeform 8">
              <a:extLst>
                <a:ext uri="{FF2B5EF4-FFF2-40B4-BE49-F238E27FC236}">
                  <a16:creationId xmlns:a16="http://schemas.microsoft.com/office/drawing/2014/main" id="{984E20DF-A6AE-6704-70CA-513E5E786987}"/>
                </a:ext>
              </a:extLst>
            </p:cNvPr>
            <p:cNvSpPr/>
            <p:nvPr/>
          </p:nvSpPr>
          <p:spPr>
            <a:xfrm>
              <a:off x="0" y="0"/>
              <a:ext cx="20116800" cy="2293086"/>
            </a:xfrm>
            <a:custGeom>
              <a:avLst/>
              <a:gdLst/>
              <a:ahLst/>
              <a:cxnLst/>
              <a:rect l="l" t="t" r="r" b="b"/>
              <a:pathLst>
                <a:path w="20116800" h="2293086">
                  <a:moveTo>
                    <a:pt x="0" y="0"/>
                  </a:moveTo>
                  <a:lnTo>
                    <a:pt x="20116800" y="0"/>
                  </a:lnTo>
                  <a:lnTo>
                    <a:pt x="20116800" y="2293086"/>
                  </a:lnTo>
                  <a:lnTo>
                    <a:pt x="0" y="2293086"/>
                  </a:lnTo>
                  <a:close/>
                </a:path>
              </a:pathLst>
            </a:custGeom>
            <a:solidFill>
              <a:srgbClr val="000000">
                <a:alpha val="0"/>
              </a:srgbClr>
            </a:solidFill>
          </p:spPr>
        </p:sp>
        <p:sp>
          <p:nvSpPr>
            <p:cNvPr id="9" name="TextBox 9">
              <a:extLst>
                <a:ext uri="{FF2B5EF4-FFF2-40B4-BE49-F238E27FC236}">
                  <a16:creationId xmlns:a16="http://schemas.microsoft.com/office/drawing/2014/main" id="{0533D7C0-1DA8-8D34-92BE-9A10BD172BD3}"/>
                </a:ext>
              </a:extLst>
            </p:cNvPr>
            <p:cNvSpPr txBox="1"/>
            <p:nvPr/>
          </p:nvSpPr>
          <p:spPr>
            <a:xfrm>
              <a:off x="748892" y="-537995"/>
              <a:ext cx="20116800" cy="2169261"/>
            </a:xfrm>
            <a:prstGeom prst="rect">
              <a:avLst/>
            </a:prstGeom>
          </p:spPr>
          <p:txBody>
            <a:bodyPr lIns="0" tIns="0" rIns="0" bIns="0" rtlCol="0" anchor="b"/>
            <a:lstStyle/>
            <a:p>
              <a:pPr algn="l">
                <a:lnSpc>
                  <a:spcPts val="7344"/>
                </a:lnSpc>
              </a:pPr>
              <a:r>
                <a:rPr lang="en-US" sz="7200" spc="-118" dirty="0">
                  <a:solidFill>
                    <a:srgbClr val="AB620E"/>
                  </a:solidFill>
                  <a:latin typeface="TT Rounds Condensed"/>
                  <a:ea typeface="TT Rounds Condensed"/>
                  <a:cs typeface="TT Rounds Condensed"/>
                  <a:sym typeface="TT Rounds Condensed"/>
                </a:rPr>
                <a:t>Challenges &amp; Solutions</a:t>
              </a:r>
            </a:p>
          </p:txBody>
        </p:sp>
      </p:grpSp>
      <p:grpSp>
        <p:nvGrpSpPr>
          <p:cNvPr id="10" name="Group 10">
            <a:extLst>
              <a:ext uri="{FF2B5EF4-FFF2-40B4-BE49-F238E27FC236}">
                <a16:creationId xmlns:a16="http://schemas.microsoft.com/office/drawing/2014/main" id="{A9780FEC-A569-0BF7-2E6D-881CB5607E56}"/>
              </a:ext>
            </a:extLst>
          </p:cNvPr>
          <p:cNvGrpSpPr/>
          <p:nvPr/>
        </p:nvGrpSpPr>
        <p:grpSpPr>
          <a:xfrm>
            <a:off x="5204054" y="9689676"/>
            <a:ext cx="7234206" cy="547688"/>
            <a:chOff x="0" y="0"/>
            <a:chExt cx="9645608" cy="730250"/>
          </a:xfrm>
        </p:grpSpPr>
        <p:sp>
          <p:nvSpPr>
            <p:cNvPr id="11" name="Freeform 11">
              <a:extLst>
                <a:ext uri="{FF2B5EF4-FFF2-40B4-BE49-F238E27FC236}">
                  <a16:creationId xmlns:a16="http://schemas.microsoft.com/office/drawing/2014/main" id="{938226BE-2153-6464-B59C-BB33694C8A5C}"/>
                </a:ext>
              </a:extLst>
            </p:cNvPr>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a:extLst>
                <a:ext uri="{FF2B5EF4-FFF2-40B4-BE49-F238E27FC236}">
                  <a16:creationId xmlns:a16="http://schemas.microsoft.com/office/drawing/2014/main" id="{E334C2BC-AB77-3846-0B43-B863527B7149}"/>
                </a:ext>
              </a:extLst>
            </p:cNvPr>
            <p:cNvSpPr txBox="1"/>
            <p:nvPr/>
          </p:nvSpPr>
          <p:spPr>
            <a:xfrm>
              <a:off x="0" y="0"/>
              <a:ext cx="9645608" cy="730250"/>
            </a:xfrm>
            <a:prstGeom prst="rect">
              <a:avLst/>
            </a:prstGeom>
          </p:spPr>
          <p:txBody>
            <a:bodyPr lIns="0" tIns="0" rIns="0" bIns="0" rtlCol="0" anchor="ctr"/>
            <a:lstStyle/>
            <a:p>
              <a:pPr algn="ctr">
                <a:lnSpc>
                  <a:spcPts val="1980"/>
                </a:lnSpc>
              </a:pPr>
              <a:r>
                <a:rPr lang="en-US" sz="1650" spc="15">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a:extLst>
              <a:ext uri="{FF2B5EF4-FFF2-40B4-BE49-F238E27FC236}">
                <a16:creationId xmlns:a16="http://schemas.microsoft.com/office/drawing/2014/main" id="{5B06E60D-2ACD-A08D-228C-DB977ACFAADA}"/>
              </a:ext>
            </a:extLst>
          </p:cNvPr>
          <p:cNvGrpSpPr/>
          <p:nvPr/>
        </p:nvGrpSpPr>
        <p:grpSpPr>
          <a:xfrm>
            <a:off x="14850687" y="9689678"/>
            <a:ext cx="1968037" cy="547687"/>
            <a:chOff x="0" y="0"/>
            <a:chExt cx="2624050" cy="730250"/>
          </a:xfrm>
        </p:grpSpPr>
        <p:sp>
          <p:nvSpPr>
            <p:cNvPr id="14" name="Freeform 14">
              <a:extLst>
                <a:ext uri="{FF2B5EF4-FFF2-40B4-BE49-F238E27FC236}">
                  <a16:creationId xmlns:a16="http://schemas.microsoft.com/office/drawing/2014/main" id="{9C9CF5B2-BCA8-3CD3-1AEF-5683A8BAF01C}"/>
                </a:ext>
              </a:extLst>
            </p:cNvPr>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a:extLst>
                <a:ext uri="{FF2B5EF4-FFF2-40B4-BE49-F238E27FC236}">
                  <a16:creationId xmlns:a16="http://schemas.microsoft.com/office/drawing/2014/main" id="{D514F7DA-0457-D1D8-2566-39891B1F155D}"/>
                </a:ext>
              </a:extLst>
            </p:cNvPr>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14</a:t>
              </a:r>
            </a:p>
          </p:txBody>
        </p:sp>
      </p:grpSp>
      <p:sp>
        <p:nvSpPr>
          <p:cNvPr id="19" name="TextBox 19">
            <a:extLst>
              <a:ext uri="{FF2B5EF4-FFF2-40B4-BE49-F238E27FC236}">
                <a16:creationId xmlns:a16="http://schemas.microsoft.com/office/drawing/2014/main" id="{DE1FD117-B8BB-18C4-E5C0-B1DFA3B81CD5}"/>
              </a:ext>
            </a:extLst>
          </p:cNvPr>
          <p:cNvSpPr txBox="1"/>
          <p:nvPr/>
        </p:nvSpPr>
        <p:spPr>
          <a:xfrm>
            <a:off x="1028700" y="3355045"/>
            <a:ext cx="10782300" cy="5179745"/>
          </a:xfrm>
          <a:prstGeom prst="rect">
            <a:avLst/>
          </a:prstGeom>
        </p:spPr>
        <p:txBody>
          <a:bodyPr lIns="0" tIns="0" rIns="0" bIns="0" rtlCol="0" anchor="t"/>
          <a:lstStyle/>
          <a:p>
            <a:pPr marL="342900" indent="-342900">
              <a:buFont typeface="Arial" panose="020B0604020202020204" pitchFamily="34" charset="0"/>
              <a:buChar char="•"/>
              <a:defRPr sz="2000"/>
            </a:pPr>
            <a:endParaRPr lang="en-US" sz="2800" dirty="0">
              <a:latin typeface="TT Rounds Condensed" panose="020B0604020202020204" charset="0"/>
            </a:endParaRPr>
          </a:p>
        </p:txBody>
      </p:sp>
      <p:graphicFrame>
        <p:nvGraphicFramePr>
          <p:cNvPr id="20" name="Table 19">
            <a:extLst>
              <a:ext uri="{FF2B5EF4-FFF2-40B4-BE49-F238E27FC236}">
                <a16:creationId xmlns:a16="http://schemas.microsoft.com/office/drawing/2014/main" id="{AAA2605B-F65B-C27A-3815-BC683231B797}"/>
              </a:ext>
            </a:extLst>
          </p:cNvPr>
          <p:cNvGraphicFramePr>
            <a:graphicFrameLocks noGrp="1"/>
          </p:cNvGraphicFramePr>
          <p:nvPr>
            <p:extLst>
              <p:ext uri="{D42A27DB-BD31-4B8C-83A1-F6EECF244321}">
                <p14:modId xmlns:p14="http://schemas.microsoft.com/office/powerpoint/2010/main" val="2712633153"/>
              </p:ext>
            </p:extLst>
          </p:nvPr>
        </p:nvGraphicFramePr>
        <p:xfrm>
          <a:off x="1914831" y="2683995"/>
          <a:ext cx="14645334" cy="6546379"/>
        </p:xfrm>
        <a:graphic>
          <a:graphicData uri="http://schemas.openxmlformats.org/drawingml/2006/table">
            <a:tbl>
              <a:tblPr/>
              <a:tblGrid>
                <a:gridCol w="7322667">
                  <a:extLst>
                    <a:ext uri="{9D8B030D-6E8A-4147-A177-3AD203B41FA5}">
                      <a16:colId xmlns:a16="http://schemas.microsoft.com/office/drawing/2014/main" val="391748872"/>
                    </a:ext>
                  </a:extLst>
                </a:gridCol>
                <a:gridCol w="7322667">
                  <a:extLst>
                    <a:ext uri="{9D8B030D-6E8A-4147-A177-3AD203B41FA5}">
                      <a16:colId xmlns:a16="http://schemas.microsoft.com/office/drawing/2014/main" val="2534558270"/>
                    </a:ext>
                  </a:extLst>
                </a:gridCol>
              </a:tblGrid>
              <a:tr h="323850">
                <a:tc>
                  <a:txBody>
                    <a:bodyPr/>
                    <a:lstStyle/>
                    <a:p>
                      <a:pPr>
                        <a:buNone/>
                      </a:pPr>
                      <a:r>
                        <a:rPr lang="en-IN" sz="2200" b="1">
                          <a:latin typeface="TT Rounds Condensed" panose="020B0604020202020204" charset="0"/>
                        </a:rPr>
                        <a:t>Challenge</a:t>
                      </a:r>
                      <a:endParaRPr lang="en-IN" sz="2200">
                        <a:latin typeface="TT Rounds Condensed" panose="020B0604020202020204" charset="0"/>
                      </a:endParaRPr>
                    </a:p>
                  </a:txBody>
                  <a:tcPr marL="58025" marR="58025" marT="29013" marB="29013" anchor="ctr">
                    <a:lnL>
                      <a:noFill/>
                    </a:lnL>
                    <a:lnR>
                      <a:noFill/>
                    </a:lnR>
                    <a:lnT>
                      <a:noFill/>
                    </a:lnT>
                    <a:lnB>
                      <a:noFill/>
                    </a:lnB>
                    <a:noFill/>
                  </a:tcPr>
                </a:tc>
                <a:tc>
                  <a:txBody>
                    <a:bodyPr/>
                    <a:lstStyle/>
                    <a:p>
                      <a:pPr>
                        <a:buNone/>
                      </a:pPr>
                      <a:r>
                        <a:rPr lang="en-IN" sz="2200" b="1">
                          <a:latin typeface="TT Rounds Condensed" panose="020B0604020202020204" charset="0"/>
                        </a:rPr>
                        <a:t>Solution Implemented</a:t>
                      </a:r>
                      <a:endParaRPr lang="en-IN" sz="2200">
                        <a:latin typeface="TT Rounds Condensed" panose="020B0604020202020204" charset="0"/>
                      </a:endParaRPr>
                    </a:p>
                  </a:txBody>
                  <a:tcPr marL="58025" marR="58025" marT="29013" marB="29013" anchor="ctr">
                    <a:lnL>
                      <a:noFill/>
                    </a:lnL>
                    <a:lnR>
                      <a:noFill/>
                    </a:lnR>
                    <a:lnT>
                      <a:noFill/>
                    </a:lnT>
                    <a:lnB>
                      <a:noFill/>
                    </a:lnB>
                    <a:noFill/>
                  </a:tcPr>
                </a:tc>
                <a:extLst>
                  <a:ext uri="{0D108BD9-81ED-4DB2-BD59-A6C34878D82A}">
                    <a16:rowId xmlns:a16="http://schemas.microsoft.com/office/drawing/2014/main" val="1949640877"/>
                  </a:ext>
                </a:extLst>
              </a:tr>
              <a:tr h="809625">
                <a:tc>
                  <a:txBody>
                    <a:bodyPr/>
                    <a:lstStyle/>
                    <a:p>
                      <a:pPr>
                        <a:buNone/>
                      </a:pPr>
                      <a:r>
                        <a:rPr lang="en-IN" sz="2200">
                          <a:latin typeface="TT Rounds Condensed" panose="020B0604020202020204" charset="0"/>
                        </a:rPr>
                        <a:t>Large climate and model datasets causing slow loading</a:t>
                      </a:r>
                    </a:p>
                  </a:txBody>
                  <a:tcPr marL="58025" marR="58025" marT="29013" marB="29013" anchor="ctr">
                    <a:lnL>
                      <a:noFill/>
                    </a:lnL>
                    <a:lnR>
                      <a:noFill/>
                    </a:lnR>
                    <a:lnT>
                      <a:noFill/>
                    </a:lnT>
                    <a:lnB>
                      <a:noFill/>
                    </a:lnB>
                    <a:noFill/>
                  </a:tcPr>
                </a:tc>
                <a:tc>
                  <a:txBody>
                    <a:bodyPr/>
                    <a:lstStyle/>
                    <a:p>
                      <a:pPr>
                        <a:buNone/>
                      </a:pPr>
                      <a:r>
                        <a:rPr lang="en-IN" sz="2200">
                          <a:latin typeface="TT Rounds Condensed" panose="020B0604020202020204" charset="0"/>
                        </a:rPr>
                        <a:t>Converted CSV/GeoTIFF data into optimized Parquet format and loaded only selected year ranges</a:t>
                      </a:r>
                    </a:p>
                  </a:txBody>
                  <a:tcPr marL="58025" marR="58025" marT="29013" marB="29013" anchor="ctr">
                    <a:lnL>
                      <a:noFill/>
                    </a:lnL>
                    <a:lnR>
                      <a:noFill/>
                    </a:lnR>
                    <a:lnT>
                      <a:noFill/>
                    </a:lnT>
                    <a:lnB>
                      <a:noFill/>
                    </a:lnB>
                    <a:noFill/>
                  </a:tcPr>
                </a:tc>
                <a:extLst>
                  <a:ext uri="{0D108BD9-81ED-4DB2-BD59-A6C34878D82A}">
                    <a16:rowId xmlns:a16="http://schemas.microsoft.com/office/drawing/2014/main" val="351107403"/>
                  </a:ext>
                </a:extLst>
              </a:tr>
              <a:tr h="809625">
                <a:tc>
                  <a:txBody>
                    <a:bodyPr/>
                    <a:lstStyle/>
                    <a:p>
                      <a:pPr>
                        <a:buNone/>
                      </a:pPr>
                      <a:r>
                        <a:rPr lang="en-IN" sz="2200" dirty="0">
                          <a:latin typeface="TT Rounds Condensed" panose="020B0604020202020204" charset="0"/>
                        </a:rPr>
                        <a:t>Multiple datasets with different resolutions and variables</a:t>
                      </a:r>
                    </a:p>
                  </a:txBody>
                  <a:tcPr marL="58025" marR="58025" marT="29013" marB="29013" anchor="ctr">
                    <a:lnL>
                      <a:noFill/>
                    </a:lnL>
                    <a:lnR>
                      <a:noFill/>
                    </a:lnR>
                    <a:lnT>
                      <a:noFill/>
                    </a:lnT>
                    <a:lnB>
                      <a:noFill/>
                    </a:lnB>
                    <a:noFill/>
                  </a:tcPr>
                </a:tc>
                <a:tc>
                  <a:txBody>
                    <a:bodyPr/>
                    <a:lstStyle/>
                    <a:p>
                      <a:pPr>
                        <a:buNone/>
                      </a:pPr>
                      <a:r>
                        <a:rPr lang="en-IN" sz="2200">
                          <a:latin typeface="TT Rounds Condensed" panose="020B0604020202020204" charset="0"/>
                        </a:rPr>
                        <a:t>Standardized datasets into common latitude, longitude, date, elevation, and variable-based structure</a:t>
                      </a:r>
                    </a:p>
                  </a:txBody>
                  <a:tcPr marL="58025" marR="58025" marT="29013" marB="29013" anchor="ctr">
                    <a:lnL>
                      <a:noFill/>
                    </a:lnL>
                    <a:lnR>
                      <a:noFill/>
                    </a:lnR>
                    <a:lnT>
                      <a:noFill/>
                    </a:lnT>
                    <a:lnB>
                      <a:noFill/>
                    </a:lnB>
                    <a:noFill/>
                  </a:tcPr>
                </a:tc>
                <a:extLst>
                  <a:ext uri="{0D108BD9-81ED-4DB2-BD59-A6C34878D82A}">
                    <a16:rowId xmlns:a16="http://schemas.microsoft.com/office/drawing/2014/main" val="3640755429"/>
                  </a:ext>
                </a:extLst>
              </a:tr>
              <a:tr h="566737">
                <a:tc>
                  <a:txBody>
                    <a:bodyPr/>
                    <a:lstStyle/>
                    <a:p>
                      <a:pPr>
                        <a:buNone/>
                      </a:pPr>
                      <a:r>
                        <a:rPr lang="en-IN" sz="2200" dirty="0">
                          <a:latin typeface="TT Rounds Condensed" panose="020B0604020202020204" charset="0"/>
                        </a:rPr>
                        <a:t>Heavy glacier shapefiles reducing performance</a:t>
                      </a:r>
                    </a:p>
                  </a:txBody>
                  <a:tcPr marL="58025" marR="58025" marT="29013" marB="29013" anchor="ctr">
                    <a:lnL>
                      <a:noFill/>
                    </a:lnL>
                    <a:lnR>
                      <a:noFill/>
                    </a:lnR>
                    <a:lnT>
                      <a:noFill/>
                    </a:lnT>
                    <a:lnB>
                      <a:noFill/>
                    </a:lnB>
                    <a:noFill/>
                  </a:tcPr>
                </a:tc>
                <a:tc>
                  <a:txBody>
                    <a:bodyPr/>
                    <a:lstStyle/>
                    <a:p>
                      <a:pPr>
                        <a:buNone/>
                      </a:pPr>
                      <a:r>
                        <a:rPr lang="en-IN" sz="2200" dirty="0">
                          <a:latin typeface="TT Rounds Condensed" panose="020B0604020202020204" charset="0"/>
                        </a:rPr>
                        <a:t>Converted glacier shapefiles into </a:t>
                      </a:r>
                      <a:r>
                        <a:rPr lang="en-IN" sz="2200" dirty="0" err="1">
                          <a:latin typeface="TT Rounds Condensed" panose="020B0604020202020204" charset="0"/>
                        </a:rPr>
                        <a:t>GeoParquet</a:t>
                      </a:r>
                      <a:r>
                        <a:rPr lang="en-IN" sz="2200" dirty="0">
                          <a:latin typeface="TT Rounds Condensed" panose="020B0604020202020204" charset="0"/>
                        </a:rPr>
                        <a:t> for faster spatial loading</a:t>
                      </a:r>
                    </a:p>
                  </a:txBody>
                  <a:tcPr marL="58025" marR="58025" marT="29013" marB="29013" anchor="ctr">
                    <a:lnL>
                      <a:noFill/>
                    </a:lnL>
                    <a:lnR>
                      <a:noFill/>
                    </a:lnR>
                    <a:lnT>
                      <a:noFill/>
                    </a:lnT>
                    <a:lnB>
                      <a:noFill/>
                    </a:lnB>
                    <a:noFill/>
                  </a:tcPr>
                </a:tc>
                <a:extLst>
                  <a:ext uri="{0D108BD9-81ED-4DB2-BD59-A6C34878D82A}">
                    <a16:rowId xmlns:a16="http://schemas.microsoft.com/office/drawing/2014/main" val="538153078"/>
                  </a:ext>
                </a:extLst>
              </a:tr>
              <a:tr h="809625">
                <a:tc>
                  <a:txBody>
                    <a:bodyPr/>
                    <a:lstStyle/>
                    <a:p>
                      <a:pPr>
                        <a:buNone/>
                      </a:pPr>
                      <a:r>
                        <a:rPr lang="en-IN" sz="2200">
                          <a:latin typeface="TT Rounds Condensed" panose="020B0604020202020204" charset="0"/>
                        </a:rPr>
                        <a:t>Need to analyze specific Himalayan sub-regions</a:t>
                      </a:r>
                    </a:p>
                  </a:txBody>
                  <a:tcPr marL="58025" marR="58025" marT="29013" marB="29013" anchor="ctr">
                    <a:lnL>
                      <a:noFill/>
                    </a:lnL>
                    <a:lnR>
                      <a:noFill/>
                    </a:lnR>
                    <a:lnT>
                      <a:noFill/>
                    </a:lnT>
                    <a:lnB>
                      <a:noFill/>
                    </a:lnB>
                    <a:noFill/>
                  </a:tcPr>
                </a:tc>
                <a:tc>
                  <a:txBody>
                    <a:bodyPr/>
                    <a:lstStyle/>
                    <a:p>
                      <a:pPr>
                        <a:buNone/>
                      </a:pPr>
                      <a:r>
                        <a:rPr lang="en-IN" sz="2200">
                          <a:latin typeface="TT Rounds Condensed" panose="020B0604020202020204" charset="0"/>
                        </a:rPr>
                        <a:t>Added rectangle selection, manual lat/lon input, and sub-region/glacier dropdown selection</a:t>
                      </a:r>
                    </a:p>
                  </a:txBody>
                  <a:tcPr marL="58025" marR="58025" marT="29013" marB="29013" anchor="ctr">
                    <a:lnL>
                      <a:noFill/>
                    </a:lnL>
                    <a:lnR>
                      <a:noFill/>
                    </a:lnR>
                    <a:lnT>
                      <a:noFill/>
                    </a:lnT>
                    <a:lnB>
                      <a:noFill/>
                    </a:lnB>
                    <a:noFill/>
                  </a:tcPr>
                </a:tc>
                <a:extLst>
                  <a:ext uri="{0D108BD9-81ED-4DB2-BD59-A6C34878D82A}">
                    <a16:rowId xmlns:a16="http://schemas.microsoft.com/office/drawing/2014/main" val="2403837296"/>
                  </a:ext>
                </a:extLst>
              </a:tr>
              <a:tr h="566737">
                <a:tc>
                  <a:txBody>
                    <a:bodyPr/>
                    <a:lstStyle/>
                    <a:p>
                      <a:pPr>
                        <a:buNone/>
                      </a:pPr>
                      <a:r>
                        <a:rPr lang="en-IN" sz="2200">
                          <a:latin typeface="TT Rounds Condensed" panose="020B0604020202020204" charset="0"/>
                        </a:rPr>
                        <a:t>Difficulty understanding long-term environmental changes</a:t>
                      </a:r>
                    </a:p>
                  </a:txBody>
                  <a:tcPr marL="58025" marR="58025" marT="29013" marB="29013" anchor="ctr">
                    <a:lnL>
                      <a:noFill/>
                    </a:lnL>
                    <a:lnR>
                      <a:noFill/>
                    </a:lnR>
                    <a:lnT>
                      <a:noFill/>
                    </a:lnT>
                    <a:lnB>
                      <a:noFill/>
                    </a:lnB>
                    <a:noFill/>
                  </a:tcPr>
                </a:tc>
                <a:tc>
                  <a:txBody>
                    <a:bodyPr/>
                    <a:lstStyle/>
                    <a:p>
                      <a:pPr>
                        <a:buNone/>
                      </a:pPr>
                      <a:r>
                        <a:rPr lang="en-IN" sz="2200">
                          <a:latin typeface="TT Rounds Condensed" panose="020B0604020202020204" charset="0"/>
                        </a:rPr>
                        <a:t>Added hotspot analysis and 25-year band comparison maps</a:t>
                      </a:r>
                    </a:p>
                  </a:txBody>
                  <a:tcPr marL="58025" marR="58025" marT="29013" marB="29013" anchor="ctr">
                    <a:lnL>
                      <a:noFill/>
                    </a:lnL>
                    <a:lnR>
                      <a:noFill/>
                    </a:lnR>
                    <a:lnT>
                      <a:noFill/>
                    </a:lnT>
                    <a:lnB>
                      <a:noFill/>
                    </a:lnB>
                    <a:noFill/>
                  </a:tcPr>
                </a:tc>
                <a:extLst>
                  <a:ext uri="{0D108BD9-81ED-4DB2-BD59-A6C34878D82A}">
                    <a16:rowId xmlns:a16="http://schemas.microsoft.com/office/drawing/2014/main" val="972475877"/>
                  </a:ext>
                </a:extLst>
              </a:tr>
              <a:tr h="809625">
                <a:tc>
                  <a:txBody>
                    <a:bodyPr/>
                    <a:lstStyle/>
                    <a:p>
                      <a:pPr>
                        <a:buNone/>
                      </a:pPr>
                      <a:r>
                        <a:rPr lang="en-IN" sz="2200">
                          <a:latin typeface="TT Rounds Condensed" panose="020B0604020202020204" charset="0"/>
                        </a:rPr>
                        <a:t>Offline use on systems without Python/Node.js</a:t>
                      </a:r>
                    </a:p>
                  </a:txBody>
                  <a:tcPr marL="58025" marR="58025" marT="29013" marB="29013" anchor="ctr">
                    <a:lnL>
                      <a:noFill/>
                    </a:lnL>
                    <a:lnR>
                      <a:noFill/>
                    </a:lnR>
                    <a:lnT>
                      <a:noFill/>
                    </a:lnT>
                    <a:lnB>
                      <a:noFill/>
                    </a:lnB>
                    <a:noFill/>
                  </a:tcPr>
                </a:tc>
                <a:tc>
                  <a:txBody>
                    <a:bodyPr/>
                    <a:lstStyle/>
                    <a:p>
                      <a:pPr>
                        <a:buNone/>
                      </a:pPr>
                      <a:r>
                        <a:rPr lang="en-IN" sz="2200" dirty="0">
                          <a:latin typeface="TT Rounds Condensed" panose="020B0604020202020204" charset="0"/>
                        </a:rPr>
                        <a:t>Created portable Windows package with backend executable, built frontend, and one-click launcher</a:t>
                      </a:r>
                    </a:p>
                  </a:txBody>
                  <a:tcPr marL="58025" marR="58025" marT="29013" marB="29013" anchor="ctr">
                    <a:lnL>
                      <a:noFill/>
                    </a:lnL>
                    <a:lnR>
                      <a:noFill/>
                    </a:lnR>
                    <a:lnT>
                      <a:noFill/>
                    </a:lnT>
                    <a:lnB>
                      <a:noFill/>
                    </a:lnB>
                    <a:noFill/>
                  </a:tcPr>
                </a:tc>
                <a:extLst>
                  <a:ext uri="{0D108BD9-81ED-4DB2-BD59-A6C34878D82A}">
                    <a16:rowId xmlns:a16="http://schemas.microsoft.com/office/drawing/2014/main" val="3641487441"/>
                  </a:ext>
                </a:extLst>
              </a:tr>
              <a:tr h="809625">
                <a:tc>
                  <a:txBody>
                    <a:bodyPr/>
                    <a:lstStyle/>
                    <a:p>
                      <a:pPr>
                        <a:buNone/>
                      </a:pPr>
                      <a:r>
                        <a:rPr lang="en-IN" sz="2200">
                          <a:latin typeface="TT Rounds Condensed" panose="020B0604020202020204" charset="0"/>
                        </a:rPr>
                        <a:t>Scientist-friendly interpretation needed</a:t>
                      </a:r>
                    </a:p>
                  </a:txBody>
                  <a:tcPr marL="58025" marR="58025" marT="29013" marB="29013" anchor="ctr">
                    <a:lnL>
                      <a:noFill/>
                    </a:lnL>
                    <a:lnR>
                      <a:noFill/>
                    </a:lnR>
                    <a:lnT>
                      <a:noFill/>
                    </a:lnT>
                    <a:lnB>
                      <a:noFill/>
                    </a:lnB>
                    <a:noFill/>
                  </a:tcPr>
                </a:tc>
                <a:tc>
                  <a:txBody>
                    <a:bodyPr/>
                    <a:lstStyle/>
                    <a:p>
                      <a:pPr>
                        <a:buNone/>
                      </a:pPr>
                      <a:r>
                        <a:rPr lang="en-IN" sz="2200">
                          <a:latin typeface="TT Rounds Condensed" panose="020B0604020202020204" charset="0"/>
                        </a:rPr>
                        <a:t>Added documentation page explaining data sources, methods, formulas, and visualization logic</a:t>
                      </a:r>
                    </a:p>
                  </a:txBody>
                  <a:tcPr marL="58025" marR="58025" marT="29013" marB="29013" anchor="ctr">
                    <a:lnL>
                      <a:noFill/>
                    </a:lnL>
                    <a:lnR>
                      <a:noFill/>
                    </a:lnR>
                    <a:lnT>
                      <a:noFill/>
                    </a:lnT>
                    <a:lnB>
                      <a:noFill/>
                    </a:lnB>
                    <a:noFill/>
                  </a:tcPr>
                </a:tc>
                <a:extLst>
                  <a:ext uri="{0D108BD9-81ED-4DB2-BD59-A6C34878D82A}">
                    <a16:rowId xmlns:a16="http://schemas.microsoft.com/office/drawing/2014/main" val="1007063857"/>
                  </a:ext>
                </a:extLst>
              </a:tr>
              <a:tr h="809625">
                <a:tc>
                  <a:txBody>
                    <a:bodyPr/>
                    <a:lstStyle/>
                    <a:p>
                      <a:pPr>
                        <a:buNone/>
                      </a:pPr>
                      <a:r>
                        <a:rPr lang="en-IN" sz="2200">
                          <a:latin typeface="TT Rounds Condensed" panose="020B0604020202020204" charset="0"/>
                        </a:rPr>
                        <a:t>Deployment with large data files</a:t>
                      </a:r>
                    </a:p>
                  </a:txBody>
                  <a:tcPr marL="58025" marR="58025" marT="29013" marB="29013" anchor="ctr">
                    <a:lnL>
                      <a:noFill/>
                    </a:lnL>
                    <a:lnR>
                      <a:noFill/>
                    </a:lnR>
                    <a:lnT>
                      <a:noFill/>
                    </a:lnT>
                    <a:lnB>
                      <a:noFill/>
                    </a:lnB>
                    <a:noFill/>
                  </a:tcPr>
                </a:tc>
                <a:tc>
                  <a:txBody>
                    <a:bodyPr/>
                    <a:lstStyle/>
                    <a:p>
                      <a:pPr>
                        <a:buNone/>
                      </a:pPr>
                      <a:r>
                        <a:rPr lang="en-IN" sz="2200" dirty="0">
                          <a:latin typeface="TT Rounds Condensed" panose="020B0604020202020204" charset="0"/>
                        </a:rPr>
                        <a:t>Separated frontend deployment and backend/data hosting using </a:t>
                      </a:r>
                      <a:r>
                        <a:rPr lang="en-IN" sz="2200" dirty="0" err="1">
                          <a:latin typeface="TT Rounds Condensed" panose="020B0604020202020204" charset="0"/>
                        </a:rPr>
                        <a:t>Vercel</a:t>
                      </a:r>
                      <a:r>
                        <a:rPr lang="en-IN" sz="2200" dirty="0">
                          <a:latin typeface="TT Rounds Condensed" panose="020B0604020202020204" charset="0"/>
                        </a:rPr>
                        <a:t> and Hugging Face</a:t>
                      </a:r>
                    </a:p>
                  </a:txBody>
                  <a:tcPr marL="58025" marR="58025" marT="29013" marB="29013" anchor="ctr">
                    <a:lnL>
                      <a:noFill/>
                    </a:lnL>
                    <a:lnR>
                      <a:noFill/>
                    </a:lnR>
                    <a:lnT>
                      <a:noFill/>
                    </a:lnT>
                    <a:lnB>
                      <a:noFill/>
                    </a:lnB>
                    <a:noFill/>
                  </a:tcPr>
                </a:tc>
                <a:extLst>
                  <a:ext uri="{0D108BD9-81ED-4DB2-BD59-A6C34878D82A}">
                    <a16:rowId xmlns:a16="http://schemas.microsoft.com/office/drawing/2014/main" val="1860669192"/>
                  </a:ext>
                </a:extLst>
              </a:tr>
            </a:tbl>
          </a:graphicData>
        </a:graphic>
      </p:graphicFrame>
    </p:spTree>
    <p:extLst>
      <p:ext uri="{BB962C8B-B14F-4D97-AF65-F5344CB8AC3E}">
        <p14:creationId xmlns:p14="http://schemas.microsoft.com/office/powerpoint/2010/main" val="2399809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p:cNvGrpSpPr/>
          <p:nvPr/>
        </p:nvGrpSpPr>
        <p:grpSpPr>
          <a:xfrm>
            <a:off x="0" y="9501474"/>
            <a:ext cx="18288002" cy="98997"/>
            <a:chOff x="0" y="0"/>
            <a:chExt cx="24384002" cy="131996"/>
          </a:xfrm>
        </p:grpSpPr>
        <p:sp>
          <p:nvSpPr>
            <p:cNvPr id="5" name="Freeform 5"/>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sp>
        <p:nvSpPr>
          <p:cNvPr id="6" name="AutoShape 6"/>
          <p:cNvSpPr/>
          <p:nvPr/>
        </p:nvSpPr>
        <p:spPr>
          <a:xfrm rot="2188">
            <a:off x="1785534" y="2606767"/>
            <a:ext cx="14959968"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1645920" y="429904"/>
            <a:ext cx="15087600" cy="2176135"/>
            <a:chOff x="0" y="0"/>
            <a:chExt cx="20116800" cy="2901514"/>
          </a:xfrm>
        </p:grpSpPr>
        <p:sp>
          <p:nvSpPr>
            <p:cNvPr id="8" name="Freeform 8"/>
            <p:cNvSpPr/>
            <p:nvPr/>
          </p:nvSpPr>
          <p:spPr>
            <a:xfrm>
              <a:off x="0" y="0"/>
              <a:ext cx="20116800" cy="2901514"/>
            </a:xfrm>
            <a:custGeom>
              <a:avLst/>
              <a:gdLst/>
              <a:ahLst/>
              <a:cxnLst/>
              <a:rect l="l" t="t" r="r" b="b"/>
              <a:pathLst>
                <a:path w="20116800" h="2901514">
                  <a:moveTo>
                    <a:pt x="0" y="0"/>
                  </a:moveTo>
                  <a:lnTo>
                    <a:pt x="20116800" y="0"/>
                  </a:lnTo>
                  <a:lnTo>
                    <a:pt x="20116800" y="2901514"/>
                  </a:lnTo>
                  <a:lnTo>
                    <a:pt x="0" y="2901514"/>
                  </a:lnTo>
                  <a:close/>
                </a:path>
              </a:pathLst>
            </a:custGeom>
            <a:solidFill>
              <a:srgbClr val="000000">
                <a:alpha val="0"/>
              </a:srgbClr>
            </a:solidFill>
          </p:spPr>
        </p:sp>
        <p:sp>
          <p:nvSpPr>
            <p:cNvPr id="9" name="TextBox 9"/>
            <p:cNvSpPr txBox="1"/>
            <p:nvPr/>
          </p:nvSpPr>
          <p:spPr>
            <a:xfrm>
              <a:off x="0" y="123825"/>
              <a:ext cx="20116800" cy="2777689"/>
            </a:xfrm>
            <a:prstGeom prst="rect">
              <a:avLst/>
            </a:prstGeom>
          </p:spPr>
          <p:txBody>
            <a:bodyPr lIns="0" tIns="0" rIns="0" bIns="0" rtlCol="0" anchor="b"/>
            <a:lstStyle/>
            <a:p>
              <a:pPr algn="l">
                <a:lnSpc>
                  <a:spcPts val="7344"/>
                </a:lnSpc>
              </a:pPr>
              <a:r>
                <a:rPr lang="en-US" sz="7200" spc="-118" dirty="0">
                  <a:solidFill>
                    <a:srgbClr val="8E4221"/>
                  </a:solidFill>
                  <a:latin typeface="TT Rounds Condensed"/>
                  <a:ea typeface="TT Rounds Condensed"/>
                  <a:cs typeface="TT Rounds Condensed"/>
                  <a:sym typeface="TT Rounds Condensed"/>
                </a:rPr>
                <a:t>Reference </a:t>
              </a:r>
            </a:p>
          </p:txBody>
        </p:sp>
      </p:grpSp>
      <p:grpSp>
        <p:nvGrpSpPr>
          <p:cNvPr id="10" name="Group 10"/>
          <p:cNvGrpSpPr/>
          <p:nvPr/>
        </p:nvGrpSpPr>
        <p:grpSpPr>
          <a:xfrm>
            <a:off x="5529278" y="9689678"/>
            <a:ext cx="7234206" cy="547687"/>
            <a:chOff x="0" y="0"/>
            <a:chExt cx="9645608" cy="730250"/>
          </a:xfrm>
        </p:grpSpPr>
        <p:sp>
          <p:nvSpPr>
            <p:cNvPr id="11" name="Freeform 11"/>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2" name="TextBox 12"/>
            <p:cNvSpPr txBox="1"/>
            <p:nvPr/>
          </p:nvSpPr>
          <p:spPr>
            <a:xfrm>
              <a:off x="0" y="-9525"/>
              <a:ext cx="9645608" cy="739775"/>
            </a:xfrm>
            <a:prstGeom prst="rect">
              <a:avLst/>
            </a:prstGeom>
          </p:spPr>
          <p:txBody>
            <a:bodyPr lIns="0" tIns="0" rIns="0" bIns="0" rtlCol="0" anchor="ctr"/>
            <a:lstStyle/>
            <a:p>
              <a:pPr algn="ctr">
                <a:lnSpc>
                  <a:spcPts val="1620"/>
                </a:lnSpc>
              </a:pPr>
              <a:r>
                <a:rPr lang="en-US" sz="1350" spc="12">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3" name="Group 13"/>
          <p:cNvGrpSpPr/>
          <p:nvPr/>
        </p:nvGrpSpPr>
        <p:grpSpPr>
          <a:xfrm>
            <a:off x="14850687" y="9689678"/>
            <a:ext cx="1968037" cy="547687"/>
            <a:chOff x="0" y="0"/>
            <a:chExt cx="2624050" cy="730250"/>
          </a:xfrm>
        </p:grpSpPr>
        <p:sp>
          <p:nvSpPr>
            <p:cNvPr id="14" name="Freeform 14"/>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5" name="TextBox 15"/>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15</a:t>
              </a:r>
            </a:p>
          </p:txBody>
        </p:sp>
      </p:grpSp>
      <p:grpSp>
        <p:nvGrpSpPr>
          <p:cNvPr id="16" name="Group 16"/>
          <p:cNvGrpSpPr/>
          <p:nvPr/>
        </p:nvGrpSpPr>
        <p:grpSpPr>
          <a:xfrm>
            <a:off x="1645920" y="2606042"/>
            <a:ext cx="15621000" cy="3898902"/>
            <a:chOff x="0" y="0"/>
            <a:chExt cx="20828000" cy="3871322"/>
          </a:xfrm>
        </p:grpSpPr>
        <p:sp>
          <p:nvSpPr>
            <p:cNvPr id="17" name="Freeform 17"/>
            <p:cNvSpPr/>
            <p:nvPr/>
          </p:nvSpPr>
          <p:spPr>
            <a:xfrm>
              <a:off x="0" y="0"/>
              <a:ext cx="20828000" cy="2901516"/>
            </a:xfrm>
            <a:custGeom>
              <a:avLst/>
              <a:gdLst/>
              <a:ahLst/>
              <a:cxnLst/>
              <a:rect l="l" t="t" r="r" b="b"/>
              <a:pathLst>
                <a:path w="20828000" h="2901516">
                  <a:moveTo>
                    <a:pt x="0" y="0"/>
                  </a:moveTo>
                  <a:lnTo>
                    <a:pt x="20828000" y="0"/>
                  </a:lnTo>
                  <a:lnTo>
                    <a:pt x="20828000" y="2901516"/>
                  </a:lnTo>
                  <a:lnTo>
                    <a:pt x="0" y="2901516"/>
                  </a:lnTo>
                  <a:close/>
                </a:path>
              </a:pathLst>
            </a:custGeom>
            <a:solidFill>
              <a:srgbClr val="000000">
                <a:alpha val="0"/>
              </a:srgbClr>
            </a:solidFill>
          </p:spPr>
        </p:sp>
        <p:sp>
          <p:nvSpPr>
            <p:cNvPr id="18" name="TextBox 18"/>
            <p:cNvSpPr txBox="1"/>
            <p:nvPr/>
          </p:nvSpPr>
          <p:spPr>
            <a:xfrm>
              <a:off x="0" y="779306"/>
              <a:ext cx="20828000" cy="3092016"/>
            </a:xfrm>
            <a:prstGeom prst="rect">
              <a:avLst/>
            </a:prstGeom>
          </p:spPr>
          <p:txBody>
            <a:bodyPr lIns="0" tIns="0" rIns="0" bIns="0" rtlCol="0" anchor="t"/>
            <a:lstStyle/>
            <a:p>
              <a:pPr algn="just">
                <a:lnSpc>
                  <a:spcPts val="4320"/>
                </a:lnSpc>
              </a:pPr>
              <a:endParaRPr lang="en-US" sz="2600" dirty="0">
                <a:latin typeface="Times New Roman" panose="02020603050405020304" pitchFamily="18" charset="0"/>
                <a:ea typeface="Times New Roman"/>
                <a:cs typeface="Times New Roman" panose="02020603050405020304" pitchFamily="18" charset="0"/>
                <a:sym typeface="Times New Roman"/>
              </a:endParaRPr>
            </a:p>
          </p:txBody>
        </p:sp>
      </p:grpSp>
      <p:sp>
        <p:nvSpPr>
          <p:cNvPr id="20" name="TextBox 19">
            <a:extLst>
              <a:ext uri="{FF2B5EF4-FFF2-40B4-BE49-F238E27FC236}">
                <a16:creationId xmlns:a16="http://schemas.microsoft.com/office/drawing/2014/main" id="{C998A7B5-C3E5-E500-C945-B7543C1A2F33}"/>
              </a:ext>
            </a:extLst>
          </p:cNvPr>
          <p:cNvSpPr txBox="1"/>
          <p:nvPr/>
        </p:nvSpPr>
        <p:spPr>
          <a:xfrm>
            <a:off x="1785535" y="3263627"/>
            <a:ext cx="14445065" cy="4401205"/>
          </a:xfrm>
          <a:prstGeom prst="rect">
            <a:avLst/>
          </a:prstGeom>
          <a:noFill/>
        </p:spPr>
        <p:txBody>
          <a:bodyPr wrap="square">
            <a:spAutoFit/>
          </a:bodyPr>
          <a:lstStyle/>
          <a:p>
            <a:r>
              <a:rPr lang="en-IN" sz="2800" dirty="0">
                <a:latin typeface="TT Rounds Condensed" panose="020B0604020202020204" charset="0"/>
              </a:rPr>
              <a:t>[1] W. W. Immerzeel, L. P. H. van Beek, and M. F. P. </a:t>
            </a:r>
            <a:r>
              <a:rPr lang="en-IN" sz="2800" dirty="0" err="1">
                <a:latin typeface="TT Rounds Condensed" panose="020B0604020202020204" charset="0"/>
              </a:rPr>
              <a:t>Bierkens</a:t>
            </a:r>
            <a:r>
              <a:rPr lang="en-IN" sz="2800" dirty="0">
                <a:latin typeface="TT Rounds Condensed" panose="020B0604020202020204" charset="0"/>
              </a:rPr>
              <a:t>, "Climate Change Will Affect the Asian Water Towers," </a:t>
            </a:r>
            <a:r>
              <a:rPr lang="en-IN" sz="2800" i="1" dirty="0">
                <a:latin typeface="TT Rounds Condensed" panose="020B0604020202020204" charset="0"/>
              </a:rPr>
              <a:t>Science</a:t>
            </a:r>
            <a:r>
              <a:rPr lang="en-IN" sz="2800" dirty="0">
                <a:latin typeface="TT Rounds Condensed" panose="020B0604020202020204" charset="0"/>
              </a:rPr>
              <a:t>, Vol. 328, No. 5984, pp. 1382-1385, 2010.</a:t>
            </a:r>
          </a:p>
          <a:p>
            <a:r>
              <a:rPr lang="en-IN" sz="2800" dirty="0">
                <a:latin typeface="TT Rounds Condensed" panose="020B0604020202020204" charset="0"/>
              </a:rPr>
              <a:t>[2] A. F. Lutz et al., "Consistent Increase in High Asia's Runoff Due to Increasing Glacier Melt and Precipitation," </a:t>
            </a:r>
            <a:r>
              <a:rPr lang="en-IN" sz="2800" i="1" dirty="0">
                <a:latin typeface="TT Rounds Condensed" panose="020B0604020202020204" charset="0"/>
              </a:rPr>
              <a:t>Nature Climate Change</a:t>
            </a:r>
            <a:r>
              <a:rPr lang="en-IN" sz="2800" dirty="0">
                <a:latin typeface="TT Rounds Condensed" panose="020B0604020202020204" charset="0"/>
              </a:rPr>
              <a:t>, Vol. 4, No. 7, July 2014.</a:t>
            </a:r>
          </a:p>
          <a:p>
            <a:r>
              <a:rPr lang="en-IN" sz="2800" dirty="0">
                <a:latin typeface="TT Rounds Condensed" panose="020B0604020202020204" charset="0"/>
              </a:rPr>
              <a:t>[3] T. Bolch et al., "The State and Fate of Himalayan Glaciers," </a:t>
            </a:r>
            <a:r>
              <a:rPr lang="en-IN" sz="2800" i="1" dirty="0">
                <a:latin typeface="TT Rounds Condensed" panose="020B0604020202020204" charset="0"/>
              </a:rPr>
              <a:t>Science</a:t>
            </a:r>
            <a:r>
              <a:rPr lang="en-IN" sz="2800" dirty="0">
                <a:latin typeface="TT Rounds Condensed" panose="020B0604020202020204" charset="0"/>
              </a:rPr>
              <a:t>, Vol. 336, No. 6079, 2012.</a:t>
            </a:r>
          </a:p>
          <a:p>
            <a:r>
              <a:rPr lang="en-IN" sz="2800" dirty="0">
                <a:latin typeface="TT Rounds Condensed" panose="020B0604020202020204" charset="0"/>
              </a:rPr>
              <a:t>[4] W. </a:t>
            </a:r>
            <a:r>
              <a:rPr lang="en-IN" sz="2800" dirty="0" err="1">
                <a:latin typeface="TT Rounds Condensed" panose="020B0604020202020204" charset="0"/>
              </a:rPr>
              <a:t>Terink</a:t>
            </a:r>
            <a:r>
              <a:rPr lang="en-IN" sz="2800" dirty="0">
                <a:latin typeface="TT Rounds Condensed" panose="020B0604020202020204" charset="0"/>
              </a:rPr>
              <a:t> et al., "SPHY v2.0: Spatial Processes in </a:t>
            </a:r>
            <a:r>
              <a:rPr lang="en-IN" sz="2800" dirty="0" err="1">
                <a:latin typeface="TT Rounds Condensed" panose="020B0604020202020204" charset="0"/>
              </a:rPr>
              <a:t>HYdrology</a:t>
            </a:r>
            <a:r>
              <a:rPr lang="en-IN" sz="2800" dirty="0">
                <a:latin typeface="TT Rounds Condensed" panose="020B0604020202020204" charset="0"/>
              </a:rPr>
              <a:t>," </a:t>
            </a:r>
            <a:r>
              <a:rPr lang="en-IN" sz="2800" i="1" dirty="0">
                <a:latin typeface="TT Rounds Condensed" panose="020B0604020202020204" charset="0"/>
              </a:rPr>
              <a:t>Geoscientific Model Development</a:t>
            </a:r>
            <a:r>
              <a:rPr lang="en-IN" sz="2800" dirty="0">
                <a:latin typeface="TT Rounds Condensed" panose="020B0604020202020204" charset="0"/>
              </a:rPr>
              <a:t>, Vol. 8, 2015.</a:t>
            </a:r>
          </a:p>
          <a:p>
            <a:r>
              <a:rPr lang="en-IN" sz="2800" dirty="0">
                <a:latin typeface="TT Rounds Condensed" panose="020B0604020202020204" charset="0"/>
              </a:rPr>
              <a:t>[5] J. Munoz-Sabater et al., "ERA5-Land: A State-of-the-Art Global Reanalysis Dataset for Land Applications," </a:t>
            </a:r>
            <a:r>
              <a:rPr lang="en-IN" sz="2800" i="1" dirty="0">
                <a:latin typeface="TT Rounds Condensed" panose="020B0604020202020204" charset="0"/>
              </a:rPr>
              <a:t>Earth System Science Data</a:t>
            </a:r>
            <a:r>
              <a:rPr lang="en-IN" sz="2800" dirty="0">
                <a:latin typeface="TT Rounds Condensed" panose="020B0604020202020204" charset="0"/>
              </a:rPr>
              <a:t>, Vol. 13, 2021.</a:t>
            </a:r>
          </a:p>
          <a:p>
            <a:r>
              <a:rPr lang="en-IN" sz="2800" dirty="0">
                <a:latin typeface="TT Rounds Condensed" panose="020B0604020202020204" charset="0"/>
              </a:rPr>
              <a:t>[6] B. Thrasher et al., "NASA Global Daily Downscaled Projections, CMIP6," </a:t>
            </a:r>
            <a:r>
              <a:rPr lang="en-IN" sz="2800" i="1" dirty="0">
                <a:latin typeface="TT Rounds Condensed" panose="020B0604020202020204" charset="0"/>
              </a:rPr>
              <a:t>Scientific Data</a:t>
            </a:r>
            <a:r>
              <a:rPr lang="en-IN" sz="2800" dirty="0">
                <a:latin typeface="TT Rounds Condensed" panose="020B0604020202020204" charset="0"/>
              </a:rPr>
              <a:t>, 2022.</a:t>
            </a:r>
            <a:endParaRPr lang="en-IN" sz="2800" dirty="0">
              <a:effectLst/>
              <a:latin typeface="TT Rounds Condensed" panose="020B06040202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BD582C"/>
            </a:solidFill>
          </p:spPr>
        </p:sp>
      </p:grpSp>
      <p:grpSp>
        <p:nvGrpSpPr>
          <p:cNvPr id="4" name="Group 4"/>
          <p:cNvGrpSpPr/>
          <p:nvPr/>
        </p:nvGrpSpPr>
        <p:grpSpPr>
          <a:xfrm>
            <a:off x="0" y="9501474"/>
            <a:ext cx="18288002" cy="98997"/>
            <a:chOff x="0" y="0"/>
            <a:chExt cx="24384002" cy="131996"/>
          </a:xfrm>
        </p:grpSpPr>
        <p:sp>
          <p:nvSpPr>
            <p:cNvPr id="5" name="Freeform 5"/>
            <p:cNvSpPr/>
            <p:nvPr/>
          </p:nvSpPr>
          <p:spPr>
            <a:xfrm>
              <a:off x="0" y="0"/>
              <a:ext cx="24384000" cy="131953"/>
            </a:xfrm>
            <a:custGeom>
              <a:avLst/>
              <a:gdLst/>
              <a:ahLst/>
              <a:cxnLst/>
              <a:rect l="l" t="t" r="r" b="b"/>
              <a:pathLst>
                <a:path w="24384000" h="131953">
                  <a:moveTo>
                    <a:pt x="0" y="0"/>
                  </a:moveTo>
                  <a:lnTo>
                    <a:pt x="24384000" y="0"/>
                  </a:lnTo>
                  <a:lnTo>
                    <a:pt x="24384000" y="131953"/>
                  </a:lnTo>
                  <a:lnTo>
                    <a:pt x="0" y="131953"/>
                  </a:lnTo>
                  <a:close/>
                </a:path>
              </a:pathLst>
            </a:custGeom>
            <a:solidFill>
              <a:srgbClr val="E48312"/>
            </a:solidFill>
          </p:spPr>
        </p:sp>
      </p:grpSp>
      <p:grpSp>
        <p:nvGrpSpPr>
          <p:cNvPr id="7" name="Group 7"/>
          <p:cNvGrpSpPr/>
          <p:nvPr/>
        </p:nvGrpSpPr>
        <p:grpSpPr>
          <a:xfrm>
            <a:off x="4762" y="9601200"/>
            <a:ext cx="18283238" cy="685800"/>
            <a:chOff x="0" y="0"/>
            <a:chExt cx="24377650"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BD582C"/>
            </a:solidFill>
          </p:spPr>
        </p:sp>
      </p:grpSp>
      <p:grpSp>
        <p:nvGrpSpPr>
          <p:cNvPr id="9" name="Group 9"/>
          <p:cNvGrpSpPr/>
          <p:nvPr/>
        </p:nvGrpSpPr>
        <p:grpSpPr>
          <a:xfrm>
            <a:off x="22" y="9501474"/>
            <a:ext cx="18283238" cy="96012"/>
            <a:chOff x="0" y="0"/>
            <a:chExt cx="24377650"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E48312"/>
            </a:solidFill>
          </p:spPr>
        </p:sp>
      </p:grpSp>
      <p:grpSp>
        <p:nvGrpSpPr>
          <p:cNvPr id="11" name="Group 11"/>
          <p:cNvGrpSpPr/>
          <p:nvPr/>
        </p:nvGrpSpPr>
        <p:grpSpPr>
          <a:xfrm>
            <a:off x="5529278" y="9689678"/>
            <a:ext cx="7234206" cy="547687"/>
            <a:chOff x="0" y="0"/>
            <a:chExt cx="9645608" cy="730250"/>
          </a:xfrm>
        </p:grpSpPr>
        <p:sp>
          <p:nvSpPr>
            <p:cNvPr id="12" name="Freeform 12"/>
            <p:cNvSpPr/>
            <p:nvPr/>
          </p:nvSpPr>
          <p:spPr>
            <a:xfrm>
              <a:off x="0" y="0"/>
              <a:ext cx="9645608" cy="730250"/>
            </a:xfrm>
            <a:custGeom>
              <a:avLst/>
              <a:gdLst/>
              <a:ahLst/>
              <a:cxnLst/>
              <a:rect l="l" t="t" r="r" b="b"/>
              <a:pathLst>
                <a:path w="9645608" h="730250">
                  <a:moveTo>
                    <a:pt x="0" y="0"/>
                  </a:moveTo>
                  <a:lnTo>
                    <a:pt x="9645608" y="0"/>
                  </a:lnTo>
                  <a:lnTo>
                    <a:pt x="9645608" y="730250"/>
                  </a:lnTo>
                  <a:lnTo>
                    <a:pt x="0" y="730250"/>
                  </a:lnTo>
                  <a:close/>
                </a:path>
              </a:pathLst>
            </a:custGeom>
            <a:solidFill>
              <a:srgbClr val="000000">
                <a:alpha val="0"/>
              </a:srgbClr>
            </a:solidFill>
          </p:spPr>
        </p:sp>
        <p:sp>
          <p:nvSpPr>
            <p:cNvPr id="13" name="TextBox 13"/>
            <p:cNvSpPr txBox="1"/>
            <p:nvPr/>
          </p:nvSpPr>
          <p:spPr>
            <a:xfrm>
              <a:off x="0" y="-9525"/>
              <a:ext cx="9645608" cy="739775"/>
            </a:xfrm>
            <a:prstGeom prst="rect">
              <a:avLst/>
            </a:prstGeom>
          </p:spPr>
          <p:txBody>
            <a:bodyPr lIns="0" tIns="0" rIns="0" bIns="0" rtlCol="0" anchor="ctr"/>
            <a:lstStyle/>
            <a:p>
              <a:pPr algn="ctr">
                <a:lnSpc>
                  <a:spcPts val="1620"/>
                </a:lnSpc>
              </a:pPr>
              <a:r>
                <a:rPr lang="en-US" sz="1350" spc="12">
                  <a:solidFill>
                    <a:srgbClr val="FFFFFF"/>
                  </a:solidFill>
                  <a:latin typeface="TT Rounds Condensed"/>
                  <a:ea typeface="TT Rounds Condensed"/>
                  <a:cs typeface="TT Rounds Condensed"/>
                  <a:sym typeface="TT Rounds Condensed"/>
                </a:rPr>
                <a:t>Department of Computer Science &amp; Engineering ,DEPSTAR</a:t>
              </a:r>
            </a:p>
          </p:txBody>
        </p:sp>
      </p:grpSp>
      <p:grpSp>
        <p:nvGrpSpPr>
          <p:cNvPr id="14" name="Group 14"/>
          <p:cNvGrpSpPr/>
          <p:nvPr/>
        </p:nvGrpSpPr>
        <p:grpSpPr>
          <a:xfrm>
            <a:off x="14850687" y="9689678"/>
            <a:ext cx="1968037" cy="547687"/>
            <a:chOff x="0" y="0"/>
            <a:chExt cx="2624050" cy="730250"/>
          </a:xfrm>
        </p:grpSpPr>
        <p:sp>
          <p:nvSpPr>
            <p:cNvPr id="15" name="Freeform 15"/>
            <p:cNvSpPr/>
            <p:nvPr/>
          </p:nvSpPr>
          <p:spPr>
            <a:xfrm>
              <a:off x="0" y="0"/>
              <a:ext cx="2624050" cy="730250"/>
            </a:xfrm>
            <a:custGeom>
              <a:avLst/>
              <a:gdLst/>
              <a:ahLst/>
              <a:cxnLst/>
              <a:rect l="l" t="t" r="r" b="b"/>
              <a:pathLst>
                <a:path w="2624050" h="730250">
                  <a:moveTo>
                    <a:pt x="0" y="0"/>
                  </a:moveTo>
                  <a:lnTo>
                    <a:pt x="2624050" y="0"/>
                  </a:lnTo>
                  <a:lnTo>
                    <a:pt x="2624050" y="730250"/>
                  </a:lnTo>
                  <a:lnTo>
                    <a:pt x="0" y="730250"/>
                  </a:lnTo>
                  <a:close/>
                </a:path>
              </a:pathLst>
            </a:custGeom>
            <a:solidFill>
              <a:srgbClr val="000000">
                <a:alpha val="0"/>
              </a:srgbClr>
            </a:solidFill>
          </p:spPr>
        </p:sp>
        <p:sp>
          <p:nvSpPr>
            <p:cNvPr id="16" name="TextBox 16"/>
            <p:cNvSpPr txBox="1"/>
            <p:nvPr/>
          </p:nvSpPr>
          <p:spPr>
            <a:xfrm>
              <a:off x="0" y="-9525"/>
              <a:ext cx="2624050" cy="739775"/>
            </a:xfrm>
            <a:prstGeom prst="rect">
              <a:avLst/>
            </a:prstGeom>
          </p:spPr>
          <p:txBody>
            <a:bodyPr lIns="0" tIns="0" rIns="0" bIns="0" rtlCol="0" anchor="ctr"/>
            <a:lstStyle/>
            <a:p>
              <a:pPr algn="r">
                <a:lnSpc>
                  <a:spcPts val="1889"/>
                </a:lnSpc>
              </a:pPr>
              <a:r>
                <a:rPr lang="en-US" sz="1575" spc="14" dirty="0">
                  <a:solidFill>
                    <a:srgbClr val="FFFFFF"/>
                  </a:solidFill>
                  <a:latin typeface="TT Rounds Condensed"/>
                  <a:ea typeface="TT Rounds Condensed"/>
                  <a:cs typeface="TT Rounds Condensed"/>
                  <a:sym typeface="TT Rounds Condensed"/>
                </a:rPr>
                <a:t>16</a:t>
              </a:r>
            </a:p>
          </p:txBody>
        </p:sp>
      </p:grpSp>
      <p:grpSp>
        <p:nvGrpSpPr>
          <p:cNvPr id="17" name="Group 17"/>
          <p:cNvGrpSpPr/>
          <p:nvPr/>
        </p:nvGrpSpPr>
        <p:grpSpPr>
          <a:xfrm>
            <a:off x="6041259" y="3162300"/>
            <a:ext cx="7065141" cy="2640837"/>
            <a:chOff x="-438748" y="-619515"/>
            <a:chExt cx="9420188" cy="3521115"/>
          </a:xfrm>
        </p:grpSpPr>
        <p:sp>
          <p:nvSpPr>
            <p:cNvPr id="18" name="Freeform 18"/>
            <p:cNvSpPr/>
            <p:nvPr/>
          </p:nvSpPr>
          <p:spPr>
            <a:xfrm>
              <a:off x="0" y="0"/>
              <a:ext cx="8981440" cy="2901600"/>
            </a:xfrm>
            <a:custGeom>
              <a:avLst/>
              <a:gdLst/>
              <a:ahLst/>
              <a:cxnLst/>
              <a:rect l="l" t="t" r="r" b="b"/>
              <a:pathLst>
                <a:path w="8981440" h="2901600">
                  <a:moveTo>
                    <a:pt x="0" y="0"/>
                  </a:moveTo>
                  <a:lnTo>
                    <a:pt x="8981440" y="0"/>
                  </a:lnTo>
                  <a:lnTo>
                    <a:pt x="8981440" y="2901600"/>
                  </a:lnTo>
                  <a:lnTo>
                    <a:pt x="0" y="2901600"/>
                  </a:lnTo>
                  <a:close/>
                </a:path>
              </a:pathLst>
            </a:custGeom>
            <a:solidFill>
              <a:srgbClr val="000000">
                <a:alpha val="0"/>
              </a:srgbClr>
            </a:solidFill>
          </p:spPr>
        </p:sp>
        <p:sp>
          <p:nvSpPr>
            <p:cNvPr id="19" name="TextBox 19"/>
            <p:cNvSpPr txBox="1"/>
            <p:nvPr/>
          </p:nvSpPr>
          <p:spPr>
            <a:xfrm>
              <a:off x="-438748" y="-619515"/>
              <a:ext cx="8981440" cy="2901601"/>
            </a:xfrm>
            <a:prstGeom prst="rect">
              <a:avLst/>
            </a:prstGeom>
          </p:spPr>
          <p:txBody>
            <a:bodyPr lIns="0" tIns="0" rIns="0" bIns="0" rtlCol="0" anchor="b"/>
            <a:lstStyle/>
            <a:p>
              <a:pPr algn="l">
                <a:lnSpc>
                  <a:spcPts val="8262"/>
                </a:lnSpc>
              </a:pPr>
              <a:r>
                <a:rPr lang="en-US" sz="9600" b="1" spc="-124" dirty="0">
                  <a:solidFill>
                    <a:srgbClr val="8E4221"/>
                  </a:solidFill>
                  <a:latin typeface="TT Rounds Condensed"/>
                  <a:ea typeface="TT Rounds Condensed"/>
                  <a:cs typeface="TT Rounds Condensed"/>
                  <a:sym typeface="TT Rounds Condensed"/>
                </a:rPr>
                <a:t>THANK YOU</a:t>
              </a:r>
            </a:p>
          </p:txBody>
        </p:sp>
      </p:grpSp>
      <p:sp>
        <p:nvSpPr>
          <p:cNvPr id="20" name="TextBox 19">
            <a:extLst>
              <a:ext uri="{FF2B5EF4-FFF2-40B4-BE49-F238E27FC236}">
                <a16:creationId xmlns:a16="http://schemas.microsoft.com/office/drawing/2014/main" id="{D9D0B6B2-5D43-9BA3-6B0E-5D6D677558F4}"/>
              </a:ext>
            </a:extLst>
          </p:cNvPr>
          <p:cNvSpPr txBox="1"/>
          <p:nvPr/>
        </p:nvSpPr>
        <p:spPr>
          <a:xfrm>
            <a:off x="4569641" y="7658100"/>
            <a:ext cx="9144000" cy="923330"/>
          </a:xfrm>
          <a:prstGeom prst="rect">
            <a:avLst/>
          </a:prstGeom>
          <a:noFill/>
        </p:spPr>
        <p:txBody>
          <a:bodyPr wrap="square">
            <a:spAutoFit/>
          </a:bodyPr>
          <a:lstStyle/>
          <a:p>
            <a:pPr algn="ctr">
              <a:buNone/>
            </a:pPr>
            <a:r>
              <a:rPr lang="en-IN" dirty="0">
                <a:latin typeface="TT Rounds Condensed" panose="020B0604020202020204" charset="0"/>
              </a:rPr>
              <a:t>Special thanks to </a:t>
            </a:r>
            <a:r>
              <a:rPr lang="en-IN" b="1" dirty="0">
                <a:latin typeface="TT Rounds Condensed" panose="020B0604020202020204" charset="0"/>
              </a:rPr>
              <a:t>Dr. Amit Kumar Dubey</a:t>
            </a:r>
            <a:r>
              <a:rPr lang="en-IN" dirty="0">
                <a:latin typeface="TT Rounds Condensed" panose="020B0604020202020204" charset="0"/>
              </a:rPr>
              <a:t> (ISRO/SAC),</a:t>
            </a:r>
          </a:p>
          <a:p>
            <a:pPr algn="ctr">
              <a:buNone/>
            </a:pPr>
            <a:r>
              <a:rPr lang="en-IN" b="1" dirty="0">
                <a:latin typeface="TT Rounds Condensed" panose="020B0604020202020204" charset="0"/>
              </a:rPr>
              <a:t>Ms. Sachi Joshi</a:t>
            </a:r>
            <a:r>
              <a:rPr lang="en-IN" dirty="0">
                <a:latin typeface="TT Rounds Condensed" panose="020B0604020202020204" charset="0"/>
              </a:rPr>
              <a:t> (DEPSTAR),</a:t>
            </a:r>
          </a:p>
          <a:p>
            <a:pPr algn="ctr">
              <a:buNone/>
            </a:pPr>
            <a:r>
              <a:rPr lang="en-IN" dirty="0">
                <a:latin typeface="TT Rounds Condensed" panose="020B0604020202020204" charset="0"/>
              </a:rPr>
              <a:t>and DEPSTAR CHARUSAT for their guidance and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884</TotalTime>
  <Words>1094</Words>
  <Application>Microsoft Office PowerPoint</Application>
  <PresentationFormat>Custom</PresentationFormat>
  <Paragraphs>127</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TT Rounds Condensed Bold</vt:lpstr>
      <vt:lpstr>Times New Roman</vt:lpstr>
      <vt:lpstr>Arial</vt:lpstr>
      <vt:lpstr>Calibri</vt:lpstr>
      <vt:lpstr>TT Rounds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 Booking Website CSE210: Project-2</dc:title>
  <dc:creator>Mahi Patel</dc:creator>
  <cp:lastModifiedBy>Jay Patel</cp:lastModifiedBy>
  <cp:revision>22</cp:revision>
  <dcterms:created xsi:type="dcterms:W3CDTF">2006-08-16T00:00:00Z</dcterms:created>
  <dcterms:modified xsi:type="dcterms:W3CDTF">2026-07-13T14:01:19Z</dcterms:modified>
  <dc:identifier>DAGezEWmu0s</dc:identifier>
</cp:coreProperties>
</file>